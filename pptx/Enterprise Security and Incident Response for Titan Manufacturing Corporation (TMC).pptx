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8B5FE6-2192-B3DB-494F-AD36423CD330}" v="788" dt="2025-12-07T16:18:53.7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" d="100"/>
          <a:sy n="19" d="100"/>
        </p:scale>
        <p:origin x="1180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BCBFB2E-49D9-77ED-B700-7AF629564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F3E1EABB-AA85-2A37-1503-BD3C3CEB9C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F0433B30-A584-D0DC-4EC9-C41A34E21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69572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8571C4D-D642-DF03-8CB7-CE84C3B18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3BF99A27-0C1B-323E-146F-04DB9785CB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0829C2A7-DCB0-B50C-6E0A-B8FBDAF3B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95362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F02F304-6DE9-5CB9-2864-9CAE54693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A120C782-12F3-1A35-9D3D-5C6B02A232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1907ED91-3297-75B1-D4E1-C0A503DA02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55861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0568B70-CC0A-5311-D310-41B6D4D65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A695DF92-BEC7-2C2F-278F-1CA09CD0A9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3AC77C5C-EA6B-3239-3036-17272B9E7A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433626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E3D49FF-A885-D942-DD4D-21BCC8EA5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74DB6D12-AC50-FC5B-CA5F-79D919905D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58794EF0-A425-D7F4-4853-02782D6A1C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032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2BBE213-B687-5E73-F9E1-AAB8D21AB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3974959F-90E5-E349-F1B8-8B64C577C4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D9D91935-2D11-2DA4-F53F-BA02BAE635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9732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4E08823-7C47-126A-671D-BAB349F48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E15AFB06-CF47-8EC0-0EBB-DCAA48BD46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5AC6663B-CB56-2434-FC23-C43423840A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60875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873DC4A-907B-5D80-C6C1-1A253573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57D8D3DC-20CC-5BDB-A99D-9792BD0F03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E8EEB26D-3A1C-1DB8-E6CC-9383EFB6F0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30900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B317310-E8AA-8A72-F2BB-BE5D9B5DB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73779F2C-ED7C-A606-D29A-15DA812208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E9BF4467-309B-262E-D602-6B66804C59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3693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162875C3-580F-598B-200E-8F57CB5C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8151252E-02EC-ED68-8D1D-CBE138202D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E0FA4460-C16F-FA06-70EC-139D73E872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3294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E078203-1143-2EC0-C83E-DD4760FC6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09849A63-28E2-1716-C91F-230B1D8BA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96418376-4410-EC28-672F-F31D79D177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889574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A8A5402-8FF9-EE08-6740-E3EA49D82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593BE79D-C1FC-2392-809A-CD9E3F0FA1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9FA234AF-D032-B290-844D-6E4D9DA06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47686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165042C-1AD4-715C-FE61-666A72508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79834F66-5994-0C11-CE71-6DAB16B78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03ECC1B3-9F47-B044-6BF4-D8155165B1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046452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FE4762D-39CF-3785-CD4B-BC65DCD14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023140E9-3593-38F3-3CB2-4EF8A14CC6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7F2EDB74-5307-19B7-4460-C91B96EC2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1346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 amt="6000"/>
          </a:blip>
          <a:srcRect/>
          <a:stretch/>
        </p:blipFill>
        <p:spPr>
          <a:xfrm>
            <a:off x="-2530263" y="-870682"/>
            <a:ext cx="24600910" cy="120283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13"/>
          <p:cNvGrpSpPr/>
          <p:nvPr/>
        </p:nvGrpSpPr>
        <p:grpSpPr>
          <a:xfrm>
            <a:off x="595786" y="3674092"/>
            <a:ext cx="9607112" cy="660676"/>
            <a:chOff x="0" y="0"/>
            <a:chExt cx="2414767" cy="166062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16417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algn="ctr">
                <a:lnSpc>
                  <a:spcPct val="105222"/>
                </a:lnSpc>
              </a:pPr>
              <a:r>
                <a:rPr lang="en-PH" sz="3200" dirty="0">
                  <a:solidFill>
                    <a:schemeClr val="bg1"/>
                  </a:solidFill>
                  <a:latin typeface="Times New Roman"/>
                  <a:ea typeface="Calibri"/>
                  <a:cs typeface="Times New Roman"/>
                  <a:sym typeface="Calibri"/>
                </a:rPr>
                <a:t>Manufacturing / Industrial Firm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7" name="Google Shape;87;p13"/>
          <p:cNvGrpSpPr/>
          <p:nvPr/>
        </p:nvGrpSpPr>
        <p:grpSpPr>
          <a:xfrm>
            <a:off x="11343650" y="-1131870"/>
            <a:ext cx="15009522" cy="16222146"/>
            <a:chOff x="-3" y="1"/>
            <a:chExt cx="20012696" cy="21629529"/>
          </a:xfrm>
        </p:grpSpPr>
        <p:sp>
          <p:nvSpPr>
            <p:cNvPr id="88" name="Google Shape;88;p13"/>
            <p:cNvSpPr/>
            <p:nvPr/>
          </p:nvSpPr>
          <p:spPr>
            <a:xfrm rot="-3667827">
              <a:off x="2997514" y="5718418"/>
              <a:ext cx="16469493" cy="10972800"/>
            </a:xfrm>
            <a:custGeom>
              <a:avLst/>
              <a:gdLst/>
              <a:ahLst/>
              <a:cxnLst/>
              <a:rect l="l" t="t" r="r" b="b"/>
              <a:pathLst>
                <a:path w="16469493" h="10972800" extrusionOk="0">
                  <a:moveTo>
                    <a:pt x="0" y="0"/>
                  </a:moveTo>
                  <a:lnTo>
                    <a:pt x="16469494" y="0"/>
                  </a:lnTo>
                  <a:lnTo>
                    <a:pt x="16469494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89" name="Google Shape;89;p13"/>
            <p:cNvSpPr/>
            <p:nvPr/>
          </p:nvSpPr>
          <p:spPr>
            <a:xfrm rot="-9078345">
              <a:off x="4011012" y="-344718"/>
              <a:ext cx="2709794" cy="16208582"/>
            </a:xfrm>
            <a:custGeom>
              <a:avLst/>
              <a:gdLst/>
              <a:ahLst/>
              <a:cxnLst/>
              <a:rect l="l" t="t" r="r" b="b"/>
              <a:pathLst>
                <a:path w="2709794" h="16208582" extrusionOk="0">
                  <a:moveTo>
                    <a:pt x="0" y="0"/>
                  </a:moveTo>
                  <a:lnTo>
                    <a:pt x="2709794" y="0"/>
                  </a:lnTo>
                  <a:lnTo>
                    <a:pt x="2709794" y="16208582"/>
                  </a:lnTo>
                  <a:lnTo>
                    <a:pt x="0" y="1620858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90" name="Google Shape;90;p13"/>
            <p:cNvSpPr/>
            <p:nvPr/>
          </p:nvSpPr>
          <p:spPr>
            <a:xfrm rot="-9082535">
              <a:off x="4990382" y="822297"/>
              <a:ext cx="2602121" cy="21497673"/>
            </a:xfrm>
            <a:custGeom>
              <a:avLst/>
              <a:gdLst/>
              <a:ahLst/>
              <a:cxnLst/>
              <a:rect l="l" t="t" r="r" b="b"/>
              <a:pathLst>
                <a:path w="2602121" h="21497673" extrusionOk="0">
                  <a:moveTo>
                    <a:pt x="0" y="0"/>
                  </a:moveTo>
                  <a:lnTo>
                    <a:pt x="2602121" y="0"/>
                  </a:lnTo>
                  <a:lnTo>
                    <a:pt x="2602121" y="21497672"/>
                  </a:lnTo>
                  <a:lnTo>
                    <a:pt x="0" y="2149767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91" name="Google Shape;91;p13"/>
          <p:cNvSpPr txBox="1"/>
          <p:nvPr/>
        </p:nvSpPr>
        <p:spPr>
          <a:xfrm>
            <a:off x="594803" y="4553000"/>
            <a:ext cx="11992055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PH" sz="6600" b="1" dirty="0">
                <a:solidFill>
                  <a:srgbClr val="1C0472"/>
                </a:solidFill>
                <a:latin typeface="Cambria"/>
                <a:ea typeface="Cambria"/>
                <a:sym typeface="Cambria"/>
              </a:rPr>
              <a:t>Enterprise Security and Incident Response for Titan Manufacturing Corporation (TMC)</a:t>
            </a:r>
            <a:endParaRPr lang="en-US" sz="6600"/>
          </a:p>
        </p:txBody>
      </p:sp>
      <p:sp>
        <p:nvSpPr>
          <p:cNvPr id="93" name="Google Shape;93;p13"/>
          <p:cNvSpPr/>
          <p:nvPr/>
        </p:nvSpPr>
        <p:spPr>
          <a:xfrm rot="10800000">
            <a:off x="11014992" y="0"/>
            <a:ext cx="7273008" cy="6254787"/>
          </a:xfrm>
          <a:custGeom>
            <a:avLst/>
            <a:gdLst/>
            <a:ahLst/>
            <a:cxnLst/>
            <a:rect l="l" t="t" r="r" b="b"/>
            <a:pathLst>
              <a:path w="7273008" h="6254787" extrusionOk="0">
                <a:moveTo>
                  <a:pt x="0" y="0"/>
                </a:moveTo>
                <a:lnTo>
                  <a:pt x="7273008" y="0"/>
                </a:lnTo>
                <a:lnTo>
                  <a:pt x="7273008" y="6254787"/>
                </a:lnTo>
                <a:lnTo>
                  <a:pt x="0" y="62547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7999"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97" name="Google Shape;97;p13"/>
          <p:cNvSpPr/>
          <p:nvPr/>
        </p:nvSpPr>
        <p:spPr>
          <a:xfrm>
            <a:off x="2379312" y="652596"/>
            <a:ext cx="10418237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PH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PH"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PH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3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0732" y="91624"/>
            <a:ext cx="2038350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452E5E02-61FE-5D3E-8D53-9F45D196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>
            <a:extLst>
              <a:ext uri="{FF2B5EF4-FFF2-40B4-BE49-F238E27FC236}">
                <a16:creationId xmlns:a16="http://schemas.microsoft.com/office/drawing/2014/main" id="{37474F6D-B879-4BA5-1E96-2CE9F2FF88B3}"/>
              </a:ext>
            </a:extLst>
          </p:cNvPr>
          <p:cNvGrpSpPr/>
          <p:nvPr/>
        </p:nvGrpSpPr>
        <p:grpSpPr>
          <a:xfrm>
            <a:off x="0" y="0"/>
            <a:ext cx="18288000" cy="1257656"/>
            <a:chOff x="0" y="0"/>
            <a:chExt cx="2414767" cy="166062"/>
          </a:xfrm>
        </p:grpSpPr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4BB1B0E2-3D10-C1F8-1714-86CF16FA9A5B}"/>
                </a:ext>
              </a:extLst>
            </p:cNvPr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122D93BC-839E-7494-C20C-BDE75F240ED9}"/>
                </a:ext>
              </a:extLst>
            </p:cNvPr>
            <p:cNvSpPr txBox="1"/>
            <p:nvPr/>
          </p:nvSpPr>
          <p:spPr>
            <a:xfrm>
              <a:off x="0" y="38100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5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C0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>
            <a:extLst>
              <a:ext uri="{FF2B5EF4-FFF2-40B4-BE49-F238E27FC236}">
                <a16:creationId xmlns:a16="http://schemas.microsoft.com/office/drawing/2014/main" id="{E9A359D1-E9E8-EC19-7B63-DF49C7E1E710}"/>
              </a:ext>
            </a:extLst>
          </p:cNvPr>
          <p:cNvGrpSpPr/>
          <p:nvPr/>
        </p:nvGrpSpPr>
        <p:grpSpPr>
          <a:xfrm>
            <a:off x="15737979" y="5314950"/>
            <a:ext cx="6329829" cy="6841218"/>
            <a:chOff x="-1" y="0"/>
            <a:chExt cx="8439772" cy="9121624"/>
          </a:xfrm>
        </p:grpSpPr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CE01C6CD-74F7-C1C1-7BE8-4BE4A84A47A0}"/>
                </a:ext>
              </a:extLst>
            </p:cNvPr>
            <p:cNvSpPr/>
            <p:nvPr/>
          </p:nvSpPr>
          <p:spPr>
            <a:xfrm rot="-3667827">
              <a:off x="1264114" y="2411576"/>
              <a:ext cx="6945529" cy="4627459"/>
            </a:xfrm>
            <a:custGeom>
              <a:avLst/>
              <a:gdLst/>
              <a:ahLst/>
              <a:cxnLst/>
              <a:rect l="l" t="t" r="r" b="b"/>
              <a:pathLst>
                <a:path w="6945529" h="4627459" extrusionOk="0">
                  <a:moveTo>
                    <a:pt x="0" y="0"/>
                  </a:moveTo>
                  <a:lnTo>
                    <a:pt x="6945529" y="0"/>
                  </a:lnTo>
                  <a:lnTo>
                    <a:pt x="6945529" y="4627459"/>
                  </a:lnTo>
                  <a:lnTo>
                    <a:pt x="0" y="4627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F76E94A0-F05E-04DA-AFFC-CFC833BD2377}"/>
                </a:ext>
              </a:extLst>
            </p:cNvPr>
            <p:cNvSpPr/>
            <p:nvPr/>
          </p:nvSpPr>
          <p:spPr>
            <a:xfrm rot="-9078345">
              <a:off x="1691527" y="-145375"/>
              <a:ext cx="1142777" cy="6835497"/>
            </a:xfrm>
            <a:custGeom>
              <a:avLst/>
              <a:gdLst/>
              <a:ahLst/>
              <a:cxnLst/>
              <a:rect l="l" t="t" r="r" b="b"/>
              <a:pathLst>
                <a:path w="1142777" h="6835497" extrusionOk="0">
                  <a:moveTo>
                    <a:pt x="0" y="0"/>
                  </a:moveTo>
                  <a:lnTo>
                    <a:pt x="1142777" y="0"/>
                  </a:lnTo>
                  <a:lnTo>
                    <a:pt x="1142777" y="6835497"/>
                  </a:lnTo>
                  <a:lnTo>
                    <a:pt x="0" y="6835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1816E841-16F8-E197-22BD-D7586AB7FDD8}"/>
                </a:ext>
              </a:extLst>
            </p:cNvPr>
            <p:cNvSpPr/>
            <p:nvPr/>
          </p:nvSpPr>
          <p:spPr>
            <a:xfrm rot="-9082535">
              <a:off x="2104548" y="346780"/>
              <a:ext cx="1097368" cy="9066017"/>
            </a:xfrm>
            <a:custGeom>
              <a:avLst/>
              <a:gdLst/>
              <a:ahLst/>
              <a:cxnLst/>
              <a:rect l="l" t="t" r="r" b="b"/>
              <a:pathLst>
                <a:path w="1097368" h="9066017" extrusionOk="0">
                  <a:moveTo>
                    <a:pt x="0" y="0"/>
                  </a:moveTo>
                  <a:lnTo>
                    <a:pt x="1097369" y="0"/>
                  </a:lnTo>
                  <a:lnTo>
                    <a:pt x="1097369" y="9066017"/>
                  </a:lnTo>
                  <a:lnTo>
                    <a:pt x="0" y="9066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48CFC182-3A68-34EC-88D3-66673E65BA6C}"/>
              </a:ext>
            </a:extLst>
          </p:cNvPr>
          <p:cNvSpPr txBox="1"/>
          <p:nvPr/>
        </p:nvSpPr>
        <p:spPr>
          <a:xfrm>
            <a:off x="180968" y="127572"/>
            <a:ext cx="1792606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PH" sz="6500" b="1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Introduction</a:t>
            </a:r>
            <a:endParaRPr lang="en-US" sz="6500"/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7F0F3722-589E-234F-FADE-E5C6F072B2DD}"/>
              </a:ext>
            </a:extLst>
          </p:cNvPr>
          <p:cNvSpPr txBox="1"/>
          <p:nvPr/>
        </p:nvSpPr>
        <p:spPr>
          <a:xfrm>
            <a:off x="1929311" y="2367544"/>
            <a:ext cx="14241448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Char char="•"/>
            </a:pPr>
            <a:r>
              <a:rPr lang="en-PH" sz="4800" b="1" dirty="0">
                <a:latin typeface="Cambria"/>
              </a:rPr>
              <a:t>Overview of the project</a:t>
            </a:r>
            <a:endParaRPr lang="en-US" sz="4800">
              <a:latin typeface="Cambria"/>
            </a:endParaRPr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800" b="1" dirty="0">
                <a:latin typeface="Cambria"/>
              </a:rPr>
              <a:t>Scope: </a:t>
            </a:r>
            <a:r>
              <a:rPr lang="en-PH" sz="4800" dirty="0">
                <a:latin typeface="Cambria"/>
              </a:rPr>
              <a:t>IT &amp; OT security, cryptography, risk management</a:t>
            </a:r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800" b="1" dirty="0">
                <a:latin typeface="Cambria"/>
              </a:rPr>
              <a:t>Goal: </a:t>
            </a:r>
            <a:r>
              <a:rPr lang="en-PH" sz="4800" dirty="0">
                <a:latin typeface="Cambria"/>
              </a:rPr>
              <a:t>Protect manufacturing operations using real-world frameworks</a:t>
            </a: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AFF22AB9-B55C-1697-3014-60161A5CDF0B}"/>
              </a:ext>
            </a:extLst>
          </p:cNvPr>
          <p:cNvSpPr/>
          <p:nvPr/>
        </p:nvSpPr>
        <p:spPr>
          <a:xfrm>
            <a:off x="1159209" y="9182845"/>
            <a:ext cx="5681363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4">
            <a:extLst>
              <a:ext uri="{FF2B5EF4-FFF2-40B4-BE49-F238E27FC236}">
                <a16:creationId xmlns:a16="http://schemas.microsoft.com/office/drawing/2014/main" id="{361C367E-A52B-94A8-689D-F7AF7D2D427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7046" y="9018651"/>
            <a:ext cx="852163" cy="935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2998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E92CBA9-F6D8-E980-4B8A-A3F61057D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>
            <a:extLst>
              <a:ext uri="{FF2B5EF4-FFF2-40B4-BE49-F238E27FC236}">
                <a16:creationId xmlns:a16="http://schemas.microsoft.com/office/drawing/2014/main" id="{AF9E4935-5727-F957-00D9-0CCA56671A3E}"/>
              </a:ext>
            </a:extLst>
          </p:cNvPr>
          <p:cNvGrpSpPr/>
          <p:nvPr/>
        </p:nvGrpSpPr>
        <p:grpSpPr>
          <a:xfrm>
            <a:off x="0" y="0"/>
            <a:ext cx="18288000" cy="1257656"/>
            <a:chOff x="0" y="0"/>
            <a:chExt cx="2414767" cy="166062"/>
          </a:xfrm>
        </p:grpSpPr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D0CBD3D5-B419-0487-CE12-563107FCE7CF}"/>
                </a:ext>
              </a:extLst>
            </p:cNvPr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94A15EFC-E455-4CDC-6B55-B57A280AA15C}"/>
                </a:ext>
              </a:extLst>
            </p:cNvPr>
            <p:cNvSpPr txBox="1"/>
            <p:nvPr/>
          </p:nvSpPr>
          <p:spPr>
            <a:xfrm>
              <a:off x="0" y="38100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5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C0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>
            <a:extLst>
              <a:ext uri="{FF2B5EF4-FFF2-40B4-BE49-F238E27FC236}">
                <a16:creationId xmlns:a16="http://schemas.microsoft.com/office/drawing/2014/main" id="{C053A44A-499E-D8B5-B5AE-0E4BB9EA75F3}"/>
              </a:ext>
            </a:extLst>
          </p:cNvPr>
          <p:cNvGrpSpPr/>
          <p:nvPr/>
        </p:nvGrpSpPr>
        <p:grpSpPr>
          <a:xfrm>
            <a:off x="15737979" y="5314950"/>
            <a:ext cx="6329829" cy="6841218"/>
            <a:chOff x="-1" y="0"/>
            <a:chExt cx="8439772" cy="9121624"/>
          </a:xfrm>
        </p:grpSpPr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643B6F80-BAFB-9AA6-CF46-A3595D027854}"/>
                </a:ext>
              </a:extLst>
            </p:cNvPr>
            <p:cNvSpPr/>
            <p:nvPr/>
          </p:nvSpPr>
          <p:spPr>
            <a:xfrm rot="-3667827">
              <a:off x="1264114" y="2411576"/>
              <a:ext cx="6945529" cy="4627459"/>
            </a:xfrm>
            <a:custGeom>
              <a:avLst/>
              <a:gdLst/>
              <a:ahLst/>
              <a:cxnLst/>
              <a:rect l="l" t="t" r="r" b="b"/>
              <a:pathLst>
                <a:path w="6945529" h="4627459" extrusionOk="0">
                  <a:moveTo>
                    <a:pt x="0" y="0"/>
                  </a:moveTo>
                  <a:lnTo>
                    <a:pt x="6945529" y="0"/>
                  </a:lnTo>
                  <a:lnTo>
                    <a:pt x="6945529" y="4627459"/>
                  </a:lnTo>
                  <a:lnTo>
                    <a:pt x="0" y="4627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580B09C3-C971-F38B-761D-BD70F738EBFE}"/>
                </a:ext>
              </a:extLst>
            </p:cNvPr>
            <p:cNvSpPr/>
            <p:nvPr/>
          </p:nvSpPr>
          <p:spPr>
            <a:xfrm rot="-9078345">
              <a:off x="1691527" y="-145375"/>
              <a:ext cx="1142777" cy="6835497"/>
            </a:xfrm>
            <a:custGeom>
              <a:avLst/>
              <a:gdLst/>
              <a:ahLst/>
              <a:cxnLst/>
              <a:rect l="l" t="t" r="r" b="b"/>
              <a:pathLst>
                <a:path w="1142777" h="6835497" extrusionOk="0">
                  <a:moveTo>
                    <a:pt x="0" y="0"/>
                  </a:moveTo>
                  <a:lnTo>
                    <a:pt x="1142777" y="0"/>
                  </a:lnTo>
                  <a:lnTo>
                    <a:pt x="1142777" y="6835497"/>
                  </a:lnTo>
                  <a:lnTo>
                    <a:pt x="0" y="6835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E8A9902B-1654-9DFE-6C1B-E9806D22FE38}"/>
                </a:ext>
              </a:extLst>
            </p:cNvPr>
            <p:cNvSpPr/>
            <p:nvPr/>
          </p:nvSpPr>
          <p:spPr>
            <a:xfrm rot="-9082535">
              <a:off x="2104548" y="346780"/>
              <a:ext cx="1097368" cy="9066017"/>
            </a:xfrm>
            <a:custGeom>
              <a:avLst/>
              <a:gdLst/>
              <a:ahLst/>
              <a:cxnLst/>
              <a:rect l="l" t="t" r="r" b="b"/>
              <a:pathLst>
                <a:path w="1097368" h="9066017" extrusionOk="0">
                  <a:moveTo>
                    <a:pt x="0" y="0"/>
                  </a:moveTo>
                  <a:lnTo>
                    <a:pt x="1097369" y="0"/>
                  </a:lnTo>
                  <a:lnTo>
                    <a:pt x="1097369" y="9066017"/>
                  </a:lnTo>
                  <a:lnTo>
                    <a:pt x="0" y="9066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931B27B5-944B-98CB-86FA-D529DDA81BD4}"/>
              </a:ext>
            </a:extLst>
          </p:cNvPr>
          <p:cNvSpPr txBox="1"/>
          <p:nvPr/>
        </p:nvSpPr>
        <p:spPr>
          <a:xfrm>
            <a:off x="180968" y="127572"/>
            <a:ext cx="1792606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PH" sz="6500" b="1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Company Profile</a:t>
            </a:r>
            <a:endParaRPr lang="en-US" dirty="0"/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CE80CF53-0FDE-36B0-B8C8-E7A8AA0D2F33}"/>
              </a:ext>
            </a:extLst>
          </p:cNvPr>
          <p:cNvSpPr txBox="1"/>
          <p:nvPr/>
        </p:nvSpPr>
        <p:spPr>
          <a:xfrm>
            <a:off x="1929311" y="2367544"/>
            <a:ext cx="14888428" cy="498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Char char="•"/>
            </a:pPr>
            <a:r>
              <a:rPr lang="en-PH" sz="5400" dirty="0">
                <a:latin typeface="Cambria"/>
              </a:rPr>
              <a:t>About Titan Manufacturing Corporation</a:t>
            </a:r>
            <a:endParaRPr lang="en-US" sz="5400">
              <a:latin typeface="Cambria"/>
            </a:endParaRPr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5400" dirty="0">
                <a:latin typeface="Cambria"/>
                <a:ea typeface="Cambria"/>
              </a:rPr>
              <a:t>Nature of business: industrial/manufacturing</a:t>
            </a:r>
            <a:endParaRPr lang="en-PH" sz="5400"/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5400" dirty="0">
                <a:latin typeface="Cambria"/>
                <a:ea typeface="Cambria"/>
              </a:rPr>
              <a:t>IT &amp; OT environment overview</a:t>
            </a:r>
            <a:endParaRPr lang="en-PH" sz="5400"/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5400" dirty="0">
                <a:latin typeface="Cambria"/>
                <a:ea typeface="Cambria"/>
              </a:rPr>
              <a:t>Key departments involved</a:t>
            </a:r>
            <a:endParaRPr lang="en-PH" sz="5400"/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C6872356-72E7-FA11-C09B-296EFF9835D8}"/>
              </a:ext>
            </a:extLst>
          </p:cNvPr>
          <p:cNvSpPr/>
          <p:nvPr/>
        </p:nvSpPr>
        <p:spPr>
          <a:xfrm>
            <a:off x="1159209" y="9182845"/>
            <a:ext cx="5681363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4">
            <a:extLst>
              <a:ext uri="{FF2B5EF4-FFF2-40B4-BE49-F238E27FC236}">
                <a16:creationId xmlns:a16="http://schemas.microsoft.com/office/drawing/2014/main" id="{25ED24AD-B02F-F727-C528-B1492734DE4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7046" y="9018651"/>
            <a:ext cx="852163" cy="935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0036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A3634B8-C13E-473F-C687-7456F6F0C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>
            <a:extLst>
              <a:ext uri="{FF2B5EF4-FFF2-40B4-BE49-F238E27FC236}">
                <a16:creationId xmlns:a16="http://schemas.microsoft.com/office/drawing/2014/main" id="{6B439112-8AE4-AC58-345A-9141EE944EB7}"/>
              </a:ext>
            </a:extLst>
          </p:cNvPr>
          <p:cNvGrpSpPr/>
          <p:nvPr/>
        </p:nvGrpSpPr>
        <p:grpSpPr>
          <a:xfrm>
            <a:off x="0" y="0"/>
            <a:ext cx="18288000" cy="1257656"/>
            <a:chOff x="0" y="0"/>
            <a:chExt cx="2414767" cy="166062"/>
          </a:xfrm>
        </p:grpSpPr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3625C416-443F-2821-25AC-2EE5E1746F0D}"/>
                </a:ext>
              </a:extLst>
            </p:cNvPr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A2866DB3-E807-074D-1745-18B3BAE4AB0F}"/>
                </a:ext>
              </a:extLst>
            </p:cNvPr>
            <p:cNvSpPr txBox="1"/>
            <p:nvPr/>
          </p:nvSpPr>
          <p:spPr>
            <a:xfrm>
              <a:off x="0" y="38100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5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C0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>
            <a:extLst>
              <a:ext uri="{FF2B5EF4-FFF2-40B4-BE49-F238E27FC236}">
                <a16:creationId xmlns:a16="http://schemas.microsoft.com/office/drawing/2014/main" id="{E477AFF6-D8BE-107B-648C-3D4F581A8261}"/>
              </a:ext>
            </a:extLst>
          </p:cNvPr>
          <p:cNvGrpSpPr/>
          <p:nvPr/>
        </p:nvGrpSpPr>
        <p:grpSpPr>
          <a:xfrm>
            <a:off x="15737979" y="5314950"/>
            <a:ext cx="6329829" cy="6841218"/>
            <a:chOff x="-1" y="0"/>
            <a:chExt cx="8439772" cy="9121624"/>
          </a:xfrm>
        </p:grpSpPr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F3B69980-FE4A-D343-8DAC-DB417EF6A784}"/>
                </a:ext>
              </a:extLst>
            </p:cNvPr>
            <p:cNvSpPr/>
            <p:nvPr/>
          </p:nvSpPr>
          <p:spPr>
            <a:xfrm rot="-3667827">
              <a:off x="1264114" y="2411576"/>
              <a:ext cx="6945529" cy="4627459"/>
            </a:xfrm>
            <a:custGeom>
              <a:avLst/>
              <a:gdLst/>
              <a:ahLst/>
              <a:cxnLst/>
              <a:rect l="l" t="t" r="r" b="b"/>
              <a:pathLst>
                <a:path w="6945529" h="4627459" extrusionOk="0">
                  <a:moveTo>
                    <a:pt x="0" y="0"/>
                  </a:moveTo>
                  <a:lnTo>
                    <a:pt x="6945529" y="0"/>
                  </a:lnTo>
                  <a:lnTo>
                    <a:pt x="6945529" y="4627459"/>
                  </a:lnTo>
                  <a:lnTo>
                    <a:pt x="0" y="4627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E6CBB404-483C-E80B-A18B-F4B787E38101}"/>
                </a:ext>
              </a:extLst>
            </p:cNvPr>
            <p:cNvSpPr/>
            <p:nvPr/>
          </p:nvSpPr>
          <p:spPr>
            <a:xfrm rot="-9078345">
              <a:off x="1691527" y="-145375"/>
              <a:ext cx="1142777" cy="6835497"/>
            </a:xfrm>
            <a:custGeom>
              <a:avLst/>
              <a:gdLst/>
              <a:ahLst/>
              <a:cxnLst/>
              <a:rect l="l" t="t" r="r" b="b"/>
              <a:pathLst>
                <a:path w="1142777" h="6835497" extrusionOk="0">
                  <a:moveTo>
                    <a:pt x="0" y="0"/>
                  </a:moveTo>
                  <a:lnTo>
                    <a:pt x="1142777" y="0"/>
                  </a:lnTo>
                  <a:lnTo>
                    <a:pt x="1142777" y="6835497"/>
                  </a:lnTo>
                  <a:lnTo>
                    <a:pt x="0" y="6835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67A77BF9-CC62-7103-708D-BF2A7C15A50C}"/>
                </a:ext>
              </a:extLst>
            </p:cNvPr>
            <p:cNvSpPr/>
            <p:nvPr/>
          </p:nvSpPr>
          <p:spPr>
            <a:xfrm rot="-9082535">
              <a:off x="2104548" y="346780"/>
              <a:ext cx="1097368" cy="9066017"/>
            </a:xfrm>
            <a:custGeom>
              <a:avLst/>
              <a:gdLst/>
              <a:ahLst/>
              <a:cxnLst/>
              <a:rect l="l" t="t" r="r" b="b"/>
              <a:pathLst>
                <a:path w="1097368" h="9066017" extrusionOk="0">
                  <a:moveTo>
                    <a:pt x="0" y="0"/>
                  </a:moveTo>
                  <a:lnTo>
                    <a:pt x="1097369" y="0"/>
                  </a:lnTo>
                  <a:lnTo>
                    <a:pt x="1097369" y="9066017"/>
                  </a:lnTo>
                  <a:lnTo>
                    <a:pt x="0" y="9066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1F5BB763-D747-2DFA-3EB7-06E85D445013}"/>
              </a:ext>
            </a:extLst>
          </p:cNvPr>
          <p:cNvSpPr txBox="1"/>
          <p:nvPr/>
        </p:nvSpPr>
        <p:spPr>
          <a:xfrm>
            <a:off x="180968" y="127572"/>
            <a:ext cx="1792606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PH" sz="6500" b="1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Asset Inventory</a:t>
            </a:r>
            <a:endParaRPr lang="en-US" dirty="0"/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83178742-5E7E-528D-148E-CB223B6577E2}"/>
              </a:ext>
            </a:extLst>
          </p:cNvPr>
          <p:cNvSpPr txBox="1"/>
          <p:nvPr/>
        </p:nvSpPr>
        <p:spPr>
          <a:xfrm>
            <a:off x="1929311" y="2367544"/>
            <a:ext cx="14888428" cy="7109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Char char="•"/>
            </a:pPr>
            <a:r>
              <a:rPr lang="en-PH" sz="4400" b="1" dirty="0">
                <a:latin typeface="Cambria"/>
              </a:rPr>
              <a:t>Asset categories</a:t>
            </a:r>
            <a:r>
              <a:rPr lang="en-PH" sz="4400" b="1" dirty="0">
                <a:ea typeface="Cambria"/>
              </a:rPr>
              <a:t>:</a:t>
            </a:r>
            <a:endParaRPr lang="en-US" sz="4400" b="1" dirty="0">
              <a:latin typeface="Cambria"/>
            </a:endParaRPr>
          </a:p>
          <a:p>
            <a:pPr marL="1485900" lvl="2" indent="-571500">
              <a:lnSpc>
                <a:spcPct val="150000"/>
              </a:lnSpc>
              <a:buFont typeface="Wingdings"/>
              <a:buChar char="§"/>
            </a:pPr>
            <a:r>
              <a:rPr lang="en-PH" sz="4400" dirty="0">
                <a:latin typeface="Cambria"/>
                <a:ea typeface="Cambria"/>
              </a:rPr>
              <a:t>IT Assets (servers, ERP, networks)</a:t>
            </a:r>
            <a:endParaRPr lang="en-PH" sz="4400" dirty="0">
              <a:ea typeface="Cambria"/>
            </a:endParaRPr>
          </a:p>
          <a:p>
            <a:pPr marL="1485900" lvl="2" indent="-571500">
              <a:lnSpc>
                <a:spcPct val="150000"/>
              </a:lnSpc>
              <a:buFont typeface="Wingdings"/>
              <a:buChar char="§"/>
            </a:pPr>
            <a:r>
              <a:rPr lang="en-PH" sz="4400" dirty="0">
                <a:latin typeface="Cambria"/>
                <a:ea typeface="Cambria"/>
              </a:rPr>
              <a:t>OT Assets (SCADA, PLCs, sensors)</a:t>
            </a:r>
            <a:endParaRPr lang="en-PH" sz="4400"/>
          </a:p>
          <a:p>
            <a:pPr marL="1485900" lvl="2" indent="-571500">
              <a:lnSpc>
                <a:spcPct val="150000"/>
              </a:lnSpc>
              <a:buFont typeface="Wingdings"/>
              <a:buChar char="§"/>
            </a:pPr>
            <a:r>
              <a:rPr lang="en-PH" sz="4400" dirty="0">
                <a:latin typeface="Cambria"/>
                <a:ea typeface="Cambria"/>
              </a:rPr>
              <a:t>Data &amp; software assets</a:t>
            </a:r>
            <a:endParaRPr lang="en-PH" sz="4400" dirty="0"/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400" b="1" dirty="0">
                <a:latin typeface="Cambria"/>
                <a:ea typeface="Cambria"/>
              </a:rPr>
              <a:t>Importance: </a:t>
            </a:r>
            <a:r>
              <a:rPr lang="en-PH" sz="4400" dirty="0">
                <a:latin typeface="Cambria"/>
                <a:ea typeface="Cambria"/>
              </a:rPr>
              <a:t>identifying what must be protected</a:t>
            </a:r>
            <a:endParaRPr lang="en-PH" sz="4400" dirty="0"/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400" b="1" dirty="0">
                <a:latin typeface="Cambria"/>
                <a:ea typeface="Cambria"/>
              </a:rPr>
              <a:t>Link to NIST CSF "Identify"</a:t>
            </a:r>
            <a:endParaRPr lang="en-PH" sz="4400" dirty="0"/>
          </a:p>
          <a:p>
            <a:pPr marL="571500" indent="-571500">
              <a:lnSpc>
                <a:spcPct val="150000"/>
              </a:lnSpc>
              <a:buChar char="•"/>
            </a:pPr>
            <a:endParaRPr lang="en-PH" sz="4400" b="1" dirty="0">
              <a:latin typeface="Cambria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FE347BD8-10FD-FD50-DE1C-8B83CA8376CC}"/>
              </a:ext>
            </a:extLst>
          </p:cNvPr>
          <p:cNvSpPr/>
          <p:nvPr/>
        </p:nvSpPr>
        <p:spPr>
          <a:xfrm>
            <a:off x="1159209" y="9182845"/>
            <a:ext cx="5681363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4">
            <a:extLst>
              <a:ext uri="{FF2B5EF4-FFF2-40B4-BE49-F238E27FC236}">
                <a16:creationId xmlns:a16="http://schemas.microsoft.com/office/drawing/2014/main" id="{F9F352E6-587A-70C2-9110-1D0588D3583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7046" y="9018651"/>
            <a:ext cx="852163" cy="935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7724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AEF21AD-C8BF-CFD7-8298-8A8851731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>
            <a:extLst>
              <a:ext uri="{FF2B5EF4-FFF2-40B4-BE49-F238E27FC236}">
                <a16:creationId xmlns:a16="http://schemas.microsoft.com/office/drawing/2014/main" id="{FC08D51C-A5B8-9036-7582-0F4B3532A06A}"/>
              </a:ext>
            </a:extLst>
          </p:cNvPr>
          <p:cNvGrpSpPr/>
          <p:nvPr/>
        </p:nvGrpSpPr>
        <p:grpSpPr>
          <a:xfrm>
            <a:off x="0" y="0"/>
            <a:ext cx="18288000" cy="1257656"/>
            <a:chOff x="0" y="0"/>
            <a:chExt cx="2414767" cy="166062"/>
          </a:xfrm>
        </p:grpSpPr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14174247-E69E-1082-1D4E-9D5A420B5A82}"/>
                </a:ext>
              </a:extLst>
            </p:cNvPr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E45FCEEE-AAA7-52D0-5F94-D3BF40325E0C}"/>
                </a:ext>
              </a:extLst>
            </p:cNvPr>
            <p:cNvSpPr txBox="1"/>
            <p:nvPr/>
          </p:nvSpPr>
          <p:spPr>
            <a:xfrm>
              <a:off x="0" y="38100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5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C0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>
            <a:extLst>
              <a:ext uri="{FF2B5EF4-FFF2-40B4-BE49-F238E27FC236}">
                <a16:creationId xmlns:a16="http://schemas.microsoft.com/office/drawing/2014/main" id="{3A2A9B68-EB3A-69DF-6CF6-DC1B3D50F2F5}"/>
              </a:ext>
            </a:extLst>
          </p:cNvPr>
          <p:cNvGrpSpPr/>
          <p:nvPr/>
        </p:nvGrpSpPr>
        <p:grpSpPr>
          <a:xfrm>
            <a:off x="15737979" y="5314950"/>
            <a:ext cx="6329829" cy="6841218"/>
            <a:chOff x="-1" y="0"/>
            <a:chExt cx="8439772" cy="9121624"/>
          </a:xfrm>
        </p:grpSpPr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DECEECB7-91DD-28FA-09D7-BB8476A50CF3}"/>
                </a:ext>
              </a:extLst>
            </p:cNvPr>
            <p:cNvSpPr/>
            <p:nvPr/>
          </p:nvSpPr>
          <p:spPr>
            <a:xfrm rot="-3667827">
              <a:off x="1264114" y="2411576"/>
              <a:ext cx="6945529" cy="4627459"/>
            </a:xfrm>
            <a:custGeom>
              <a:avLst/>
              <a:gdLst/>
              <a:ahLst/>
              <a:cxnLst/>
              <a:rect l="l" t="t" r="r" b="b"/>
              <a:pathLst>
                <a:path w="6945529" h="4627459" extrusionOk="0">
                  <a:moveTo>
                    <a:pt x="0" y="0"/>
                  </a:moveTo>
                  <a:lnTo>
                    <a:pt x="6945529" y="0"/>
                  </a:lnTo>
                  <a:lnTo>
                    <a:pt x="6945529" y="4627459"/>
                  </a:lnTo>
                  <a:lnTo>
                    <a:pt x="0" y="4627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B2910607-B54E-B03F-6718-B38EC2556048}"/>
                </a:ext>
              </a:extLst>
            </p:cNvPr>
            <p:cNvSpPr/>
            <p:nvPr/>
          </p:nvSpPr>
          <p:spPr>
            <a:xfrm rot="-9078345">
              <a:off x="1691527" y="-145375"/>
              <a:ext cx="1142777" cy="6835497"/>
            </a:xfrm>
            <a:custGeom>
              <a:avLst/>
              <a:gdLst/>
              <a:ahLst/>
              <a:cxnLst/>
              <a:rect l="l" t="t" r="r" b="b"/>
              <a:pathLst>
                <a:path w="1142777" h="6835497" extrusionOk="0">
                  <a:moveTo>
                    <a:pt x="0" y="0"/>
                  </a:moveTo>
                  <a:lnTo>
                    <a:pt x="1142777" y="0"/>
                  </a:lnTo>
                  <a:lnTo>
                    <a:pt x="1142777" y="6835497"/>
                  </a:lnTo>
                  <a:lnTo>
                    <a:pt x="0" y="6835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7A8DD921-4E5B-A3B2-C6DD-B22429F6EE35}"/>
                </a:ext>
              </a:extLst>
            </p:cNvPr>
            <p:cNvSpPr/>
            <p:nvPr/>
          </p:nvSpPr>
          <p:spPr>
            <a:xfrm rot="-9082535">
              <a:off x="2104548" y="346780"/>
              <a:ext cx="1097368" cy="9066017"/>
            </a:xfrm>
            <a:custGeom>
              <a:avLst/>
              <a:gdLst/>
              <a:ahLst/>
              <a:cxnLst/>
              <a:rect l="l" t="t" r="r" b="b"/>
              <a:pathLst>
                <a:path w="1097368" h="9066017" extrusionOk="0">
                  <a:moveTo>
                    <a:pt x="0" y="0"/>
                  </a:moveTo>
                  <a:lnTo>
                    <a:pt x="1097369" y="0"/>
                  </a:lnTo>
                  <a:lnTo>
                    <a:pt x="1097369" y="9066017"/>
                  </a:lnTo>
                  <a:lnTo>
                    <a:pt x="0" y="9066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23A449FE-5947-FA58-58CF-BE7B23019E14}"/>
              </a:ext>
            </a:extLst>
          </p:cNvPr>
          <p:cNvSpPr txBox="1"/>
          <p:nvPr/>
        </p:nvSpPr>
        <p:spPr>
          <a:xfrm>
            <a:off x="180968" y="127572"/>
            <a:ext cx="1792606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PH" sz="6500" b="1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Threat &amp; Vulnerability Assessment</a:t>
            </a:r>
            <a:endParaRPr lang="en-US" dirty="0"/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4C06C349-BB88-C6A2-5DF2-A3123BB36545}"/>
              </a:ext>
            </a:extLst>
          </p:cNvPr>
          <p:cNvSpPr txBox="1"/>
          <p:nvPr/>
        </p:nvSpPr>
        <p:spPr>
          <a:xfrm>
            <a:off x="1929311" y="2367544"/>
            <a:ext cx="14888428" cy="646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Char char="•"/>
            </a:pPr>
            <a:r>
              <a:rPr lang="en-PH" sz="4000" b="1" dirty="0">
                <a:latin typeface="Cambria"/>
                <a:ea typeface="Cambria"/>
              </a:rPr>
              <a:t>Top threats: </a:t>
            </a:r>
            <a:r>
              <a:rPr lang="en-PH" sz="4000" dirty="0">
                <a:latin typeface="Cambria"/>
                <a:ea typeface="Cambria"/>
              </a:rPr>
              <a:t>ransomware, insider threats, network intrusion</a:t>
            </a:r>
            <a:endParaRPr lang="en-US" sz="4000" dirty="0">
              <a:latin typeface="Cambria"/>
              <a:ea typeface="Cambria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PH" sz="4000" b="1" dirty="0">
                <a:latin typeface="Cambria"/>
                <a:ea typeface="Cambria"/>
              </a:rPr>
              <a:t>Key vulnerabilities: </a:t>
            </a:r>
            <a:r>
              <a:rPr lang="en-PH" sz="4000" dirty="0">
                <a:latin typeface="Cambria"/>
                <a:ea typeface="Cambria"/>
              </a:rPr>
              <a:t>outdated OT systems, weak access control</a:t>
            </a:r>
            <a:endParaRPr lang="en-PH" sz="4000" dirty="0">
              <a:latin typeface="Cambria"/>
            </a:endParaRPr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000" b="1" dirty="0">
                <a:latin typeface="Cambria"/>
                <a:ea typeface="Cambria"/>
              </a:rPr>
              <a:t>Methodology:</a:t>
            </a:r>
            <a:endParaRPr lang="en-PH" sz="4000" b="1">
              <a:latin typeface="Cambria"/>
            </a:endParaRPr>
          </a:p>
          <a:p>
            <a:pPr marL="1485900" lvl="2" indent="-571500">
              <a:lnSpc>
                <a:spcPct val="150000"/>
              </a:lnSpc>
              <a:buFont typeface="Wingdings"/>
              <a:buChar char="§"/>
            </a:pPr>
            <a:r>
              <a:rPr lang="en-PH" sz="4000" b="1" dirty="0">
                <a:latin typeface="Cambria"/>
                <a:ea typeface="Cambria"/>
              </a:rPr>
              <a:t>NIST SP 800-30</a:t>
            </a:r>
            <a:endParaRPr lang="en-PH" sz="4000" b="1" dirty="0">
              <a:latin typeface="Cambria"/>
            </a:endParaRPr>
          </a:p>
          <a:p>
            <a:pPr marL="1485900" lvl="2" indent="-571500">
              <a:lnSpc>
                <a:spcPct val="150000"/>
              </a:lnSpc>
              <a:buFont typeface="Wingdings"/>
              <a:buChar char="§"/>
            </a:pPr>
            <a:r>
              <a:rPr lang="en-PH" sz="4000" b="1" dirty="0">
                <a:latin typeface="Cambria"/>
                <a:ea typeface="Cambria"/>
              </a:rPr>
              <a:t>ISO/IEC 27005</a:t>
            </a:r>
            <a:endParaRPr lang="en-PH" sz="4000" b="1" dirty="0">
              <a:latin typeface="Cambria"/>
            </a:endParaRPr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000" b="1" dirty="0">
                <a:latin typeface="Cambria"/>
                <a:ea typeface="Cambria"/>
              </a:rPr>
              <a:t>Risk Matrix (High/Medium/Low)</a:t>
            </a:r>
            <a:endParaRPr lang="en-PH" sz="4000" b="1" dirty="0">
              <a:latin typeface="Cambria"/>
            </a:endParaRPr>
          </a:p>
          <a:p>
            <a:pPr marL="571500" indent="-571500">
              <a:lnSpc>
                <a:spcPct val="150000"/>
              </a:lnSpc>
              <a:buChar char="•"/>
            </a:pPr>
            <a:endParaRPr lang="en-PH" sz="4000" b="1" dirty="0">
              <a:latin typeface="Cambria"/>
              <a:ea typeface="Cambria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819DA06A-EF4A-0577-6685-0BAC316BAFC3}"/>
              </a:ext>
            </a:extLst>
          </p:cNvPr>
          <p:cNvSpPr/>
          <p:nvPr/>
        </p:nvSpPr>
        <p:spPr>
          <a:xfrm>
            <a:off x="1159209" y="9182845"/>
            <a:ext cx="5681363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4">
            <a:extLst>
              <a:ext uri="{FF2B5EF4-FFF2-40B4-BE49-F238E27FC236}">
                <a16:creationId xmlns:a16="http://schemas.microsoft.com/office/drawing/2014/main" id="{E0DC98D7-6BF1-FFE9-934E-188D0FA837D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7046" y="9018651"/>
            <a:ext cx="852163" cy="935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1619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616B609-55EA-50C5-4A42-86800A966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>
            <a:extLst>
              <a:ext uri="{FF2B5EF4-FFF2-40B4-BE49-F238E27FC236}">
                <a16:creationId xmlns:a16="http://schemas.microsoft.com/office/drawing/2014/main" id="{D974490B-D866-37B2-25A4-1DD92703012F}"/>
              </a:ext>
            </a:extLst>
          </p:cNvPr>
          <p:cNvGrpSpPr/>
          <p:nvPr/>
        </p:nvGrpSpPr>
        <p:grpSpPr>
          <a:xfrm>
            <a:off x="0" y="0"/>
            <a:ext cx="18288000" cy="1257656"/>
            <a:chOff x="0" y="0"/>
            <a:chExt cx="2414767" cy="166062"/>
          </a:xfrm>
        </p:grpSpPr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DF8B89C9-F965-90B4-3CBE-63C760CF0F88}"/>
                </a:ext>
              </a:extLst>
            </p:cNvPr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041E738B-E250-56E6-401D-497DEA73666F}"/>
                </a:ext>
              </a:extLst>
            </p:cNvPr>
            <p:cNvSpPr txBox="1"/>
            <p:nvPr/>
          </p:nvSpPr>
          <p:spPr>
            <a:xfrm>
              <a:off x="0" y="38100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5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C0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>
            <a:extLst>
              <a:ext uri="{FF2B5EF4-FFF2-40B4-BE49-F238E27FC236}">
                <a16:creationId xmlns:a16="http://schemas.microsoft.com/office/drawing/2014/main" id="{D7D0E9E2-D830-B4D1-6B51-316FA5351687}"/>
              </a:ext>
            </a:extLst>
          </p:cNvPr>
          <p:cNvGrpSpPr/>
          <p:nvPr/>
        </p:nvGrpSpPr>
        <p:grpSpPr>
          <a:xfrm>
            <a:off x="15737979" y="5314950"/>
            <a:ext cx="6329829" cy="6841218"/>
            <a:chOff x="-1" y="0"/>
            <a:chExt cx="8439772" cy="9121624"/>
          </a:xfrm>
        </p:grpSpPr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3A4B12F6-70CA-DFA3-F47F-C161D8F72DCB}"/>
                </a:ext>
              </a:extLst>
            </p:cNvPr>
            <p:cNvSpPr/>
            <p:nvPr/>
          </p:nvSpPr>
          <p:spPr>
            <a:xfrm rot="-3667827">
              <a:off x="1264114" y="2411576"/>
              <a:ext cx="6945529" cy="4627459"/>
            </a:xfrm>
            <a:custGeom>
              <a:avLst/>
              <a:gdLst/>
              <a:ahLst/>
              <a:cxnLst/>
              <a:rect l="l" t="t" r="r" b="b"/>
              <a:pathLst>
                <a:path w="6945529" h="4627459" extrusionOk="0">
                  <a:moveTo>
                    <a:pt x="0" y="0"/>
                  </a:moveTo>
                  <a:lnTo>
                    <a:pt x="6945529" y="0"/>
                  </a:lnTo>
                  <a:lnTo>
                    <a:pt x="6945529" y="4627459"/>
                  </a:lnTo>
                  <a:lnTo>
                    <a:pt x="0" y="4627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82AE8CFD-EDB3-251C-1172-0475323862EF}"/>
                </a:ext>
              </a:extLst>
            </p:cNvPr>
            <p:cNvSpPr/>
            <p:nvPr/>
          </p:nvSpPr>
          <p:spPr>
            <a:xfrm rot="-9078345">
              <a:off x="1691527" y="-145375"/>
              <a:ext cx="1142777" cy="6835497"/>
            </a:xfrm>
            <a:custGeom>
              <a:avLst/>
              <a:gdLst/>
              <a:ahLst/>
              <a:cxnLst/>
              <a:rect l="l" t="t" r="r" b="b"/>
              <a:pathLst>
                <a:path w="1142777" h="6835497" extrusionOk="0">
                  <a:moveTo>
                    <a:pt x="0" y="0"/>
                  </a:moveTo>
                  <a:lnTo>
                    <a:pt x="1142777" y="0"/>
                  </a:lnTo>
                  <a:lnTo>
                    <a:pt x="1142777" y="6835497"/>
                  </a:lnTo>
                  <a:lnTo>
                    <a:pt x="0" y="6835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A436D4FF-78B7-09E6-4E7C-9E01902304CD}"/>
                </a:ext>
              </a:extLst>
            </p:cNvPr>
            <p:cNvSpPr/>
            <p:nvPr/>
          </p:nvSpPr>
          <p:spPr>
            <a:xfrm rot="-9082535">
              <a:off x="2104548" y="346780"/>
              <a:ext cx="1097368" cy="9066017"/>
            </a:xfrm>
            <a:custGeom>
              <a:avLst/>
              <a:gdLst/>
              <a:ahLst/>
              <a:cxnLst/>
              <a:rect l="l" t="t" r="r" b="b"/>
              <a:pathLst>
                <a:path w="1097368" h="9066017" extrusionOk="0">
                  <a:moveTo>
                    <a:pt x="0" y="0"/>
                  </a:moveTo>
                  <a:lnTo>
                    <a:pt x="1097369" y="0"/>
                  </a:lnTo>
                  <a:lnTo>
                    <a:pt x="1097369" y="9066017"/>
                  </a:lnTo>
                  <a:lnTo>
                    <a:pt x="0" y="9066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CD0906F4-6498-4C82-88FB-6CC2D2857743}"/>
              </a:ext>
            </a:extLst>
          </p:cNvPr>
          <p:cNvSpPr txBox="1"/>
          <p:nvPr/>
        </p:nvSpPr>
        <p:spPr>
          <a:xfrm>
            <a:off x="180968" y="127572"/>
            <a:ext cx="1792606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PH" sz="6500" b="1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Cryptography &amp; Authentication Demo</a:t>
            </a:r>
            <a:endParaRPr lang="en-US" dirty="0"/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FF7086C1-D44A-6B05-AE07-8D5CA64A2D5B}"/>
              </a:ext>
            </a:extLst>
          </p:cNvPr>
          <p:cNvSpPr txBox="1"/>
          <p:nvPr/>
        </p:nvSpPr>
        <p:spPr>
          <a:xfrm>
            <a:off x="1692085" y="2108752"/>
            <a:ext cx="14888428" cy="664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Char char="•"/>
            </a:pPr>
            <a:r>
              <a:rPr lang="en-PH" sz="3600" b="1" dirty="0">
                <a:latin typeface="Cambria"/>
                <a:ea typeface="Cambria"/>
              </a:rPr>
              <a:t>Purpose: </a:t>
            </a:r>
            <a:r>
              <a:rPr lang="en-PH" sz="3600" dirty="0">
                <a:latin typeface="Cambria"/>
                <a:ea typeface="Cambria"/>
              </a:rPr>
              <a:t>secure OT → IT data transfer</a:t>
            </a:r>
            <a:endParaRPr lang="en-US" sz="3600" dirty="0">
              <a:latin typeface="Cambria"/>
              <a:ea typeface="Cambria"/>
            </a:endParaRPr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3600" b="1" dirty="0">
                <a:latin typeface="Cambria"/>
                <a:ea typeface="Cambria"/>
              </a:rPr>
              <a:t>Features:</a:t>
            </a:r>
            <a:endParaRPr lang="en-PH" sz="3600" b="1" dirty="0"/>
          </a:p>
          <a:p>
            <a:pPr marL="1485900" lvl="2" indent="-571500">
              <a:lnSpc>
                <a:spcPct val="150000"/>
              </a:lnSpc>
              <a:buFont typeface="Wingdings"/>
              <a:buChar char="§"/>
            </a:pPr>
            <a:r>
              <a:rPr lang="en-PH" sz="3600" dirty="0">
                <a:latin typeface="Cambria"/>
                <a:ea typeface="Cambria"/>
              </a:rPr>
              <a:t>AES-256 GCM encryption</a:t>
            </a:r>
            <a:endParaRPr lang="en-PH" sz="3600" dirty="0"/>
          </a:p>
          <a:p>
            <a:pPr marL="1485900" lvl="2" indent="-571500">
              <a:lnSpc>
                <a:spcPct val="150000"/>
              </a:lnSpc>
              <a:buFont typeface="Wingdings"/>
              <a:buChar char="§"/>
            </a:pPr>
            <a:r>
              <a:rPr lang="en-PH" sz="3600" dirty="0">
                <a:latin typeface="Cambria"/>
                <a:ea typeface="Cambria"/>
              </a:rPr>
              <a:t>RBAC (Admin, Analyst, OT Operator, Compliance, CISO)</a:t>
            </a:r>
            <a:endParaRPr lang="en-PH" sz="3600" dirty="0"/>
          </a:p>
          <a:p>
            <a:pPr marL="1485900" lvl="2" indent="-571500">
              <a:lnSpc>
                <a:spcPct val="150000"/>
              </a:lnSpc>
              <a:buFont typeface="Wingdings"/>
              <a:buChar char="§"/>
            </a:pPr>
            <a:r>
              <a:rPr lang="en-PH" sz="3600" dirty="0">
                <a:latin typeface="Cambria"/>
                <a:ea typeface="Cambria"/>
              </a:rPr>
              <a:t>Excel validation before encryption</a:t>
            </a:r>
            <a:endParaRPr lang="en-PH" sz="3600" dirty="0"/>
          </a:p>
          <a:p>
            <a:pPr marL="1485900" lvl="2" indent="-571500">
              <a:lnSpc>
                <a:spcPct val="150000"/>
              </a:lnSpc>
              <a:buFont typeface="Wingdings"/>
              <a:buChar char="§"/>
            </a:pPr>
            <a:r>
              <a:rPr lang="en-PH" sz="3600" dirty="0">
                <a:latin typeface="Cambria"/>
                <a:ea typeface="Cambria"/>
              </a:rPr>
              <a:t>Audit &amp; incident logging</a:t>
            </a:r>
            <a:endParaRPr lang="en-PH" sz="3600"/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3600" b="1" dirty="0">
                <a:latin typeface="Cambria"/>
                <a:ea typeface="Cambria"/>
              </a:rPr>
              <a:t>Technologies:</a:t>
            </a:r>
            <a:r>
              <a:rPr lang="en-PH" sz="3600" dirty="0">
                <a:latin typeface="Cambria"/>
                <a:ea typeface="Cambria"/>
              </a:rPr>
              <a:t> Java/Spring Boot, AES-GCM, </a:t>
            </a:r>
            <a:r>
              <a:rPr lang="en-PH" sz="3600" err="1">
                <a:latin typeface="Cambria"/>
                <a:ea typeface="Cambria"/>
              </a:rPr>
              <a:t>BCrypt</a:t>
            </a:r>
            <a:r>
              <a:rPr lang="en-PH" sz="3600" dirty="0">
                <a:latin typeface="Cambria"/>
                <a:ea typeface="Cambria"/>
              </a:rPr>
              <a:t>, CSRF, Postgres</a:t>
            </a:r>
            <a:endParaRPr lang="en-PH" sz="3600" dirty="0"/>
          </a:p>
          <a:p>
            <a:pPr marL="571500" indent="-571500">
              <a:lnSpc>
                <a:spcPct val="150000"/>
              </a:lnSpc>
              <a:buChar char="•"/>
            </a:pPr>
            <a:endParaRPr lang="en-PH" sz="3600" dirty="0">
              <a:latin typeface="Cambria"/>
              <a:ea typeface="Cambria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B218A8DD-9888-F9D7-9E82-71A78AF79E9F}"/>
              </a:ext>
            </a:extLst>
          </p:cNvPr>
          <p:cNvSpPr/>
          <p:nvPr/>
        </p:nvSpPr>
        <p:spPr>
          <a:xfrm>
            <a:off x="1159209" y="9182845"/>
            <a:ext cx="5681363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4">
            <a:extLst>
              <a:ext uri="{FF2B5EF4-FFF2-40B4-BE49-F238E27FC236}">
                <a16:creationId xmlns:a16="http://schemas.microsoft.com/office/drawing/2014/main" id="{BEA8D5E0-516D-0115-04A2-2CDC5BB7858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7046" y="9018651"/>
            <a:ext cx="852163" cy="935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4909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FE7AFB6-79D7-2A44-F9CD-42F60AE09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>
            <a:extLst>
              <a:ext uri="{FF2B5EF4-FFF2-40B4-BE49-F238E27FC236}">
                <a16:creationId xmlns:a16="http://schemas.microsoft.com/office/drawing/2014/main" id="{BC02ED22-699D-C220-01DE-237B43C3C429}"/>
              </a:ext>
            </a:extLst>
          </p:cNvPr>
          <p:cNvGrpSpPr/>
          <p:nvPr/>
        </p:nvGrpSpPr>
        <p:grpSpPr>
          <a:xfrm>
            <a:off x="0" y="0"/>
            <a:ext cx="18288000" cy="1257656"/>
            <a:chOff x="0" y="0"/>
            <a:chExt cx="2414767" cy="166062"/>
          </a:xfrm>
        </p:grpSpPr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29BE806F-7F17-2211-5607-B9B840AC237C}"/>
                </a:ext>
              </a:extLst>
            </p:cNvPr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2C521D4B-AA7E-D3D4-E557-579AD39FBE1F}"/>
                </a:ext>
              </a:extLst>
            </p:cNvPr>
            <p:cNvSpPr txBox="1"/>
            <p:nvPr/>
          </p:nvSpPr>
          <p:spPr>
            <a:xfrm>
              <a:off x="0" y="38100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5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C0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>
            <a:extLst>
              <a:ext uri="{FF2B5EF4-FFF2-40B4-BE49-F238E27FC236}">
                <a16:creationId xmlns:a16="http://schemas.microsoft.com/office/drawing/2014/main" id="{DF5D2551-78C7-5BC2-1EEA-42673E4B6FCB}"/>
              </a:ext>
            </a:extLst>
          </p:cNvPr>
          <p:cNvGrpSpPr/>
          <p:nvPr/>
        </p:nvGrpSpPr>
        <p:grpSpPr>
          <a:xfrm>
            <a:off x="15737979" y="5314950"/>
            <a:ext cx="6329829" cy="6841218"/>
            <a:chOff x="-1" y="0"/>
            <a:chExt cx="8439772" cy="9121624"/>
          </a:xfrm>
        </p:grpSpPr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9EEFCB24-5CAC-A231-9DC2-9AFA45ABC12A}"/>
                </a:ext>
              </a:extLst>
            </p:cNvPr>
            <p:cNvSpPr/>
            <p:nvPr/>
          </p:nvSpPr>
          <p:spPr>
            <a:xfrm rot="-3667827">
              <a:off x="1264114" y="2411576"/>
              <a:ext cx="6945529" cy="4627459"/>
            </a:xfrm>
            <a:custGeom>
              <a:avLst/>
              <a:gdLst/>
              <a:ahLst/>
              <a:cxnLst/>
              <a:rect l="l" t="t" r="r" b="b"/>
              <a:pathLst>
                <a:path w="6945529" h="4627459" extrusionOk="0">
                  <a:moveTo>
                    <a:pt x="0" y="0"/>
                  </a:moveTo>
                  <a:lnTo>
                    <a:pt x="6945529" y="0"/>
                  </a:lnTo>
                  <a:lnTo>
                    <a:pt x="6945529" y="4627459"/>
                  </a:lnTo>
                  <a:lnTo>
                    <a:pt x="0" y="4627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5DE1F467-2703-48E0-4491-1FEBE2A24429}"/>
                </a:ext>
              </a:extLst>
            </p:cNvPr>
            <p:cNvSpPr/>
            <p:nvPr/>
          </p:nvSpPr>
          <p:spPr>
            <a:xfrm rot="-9078345">
              <a:off x="1691527" y="-145375"/>
              <a:ext cx="1142777" cy="6835497"/>
            </a:xfrm>
            <a:custGeom>
              <a:avLst/>
              <a:gdLst/>
              <a:ahLst/>
              <a:cxnLst/>
              <a:rect l="l" t="t" r="r" b="b"/>
              <a:pathLst>
                <a:path w="1142777" h="6835497" extrusionOk="0">
                  <a:moveTo>
                    <a:pt x="0" y="0"/>
                  </a:moveTo>
                  <a:lnTo>
                    <a:pt x="1142777" y="0"/>
                  </a:lnTo>
                  <a:lnTo>
                    <a:pt x="1142777" y="6835497"/>
                  </a:lnTo>
                  <a:lnTo>
                    <a:pt x="0" y="6835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754F4271-7220-B3F8-8484-B48EF9517F37}"/>
                </a:ext>
              </a:extLst>
            </p:cNvPr>
            <p:cNvSpPr/>
            <p:nvPr/>
          </p:nvSpPr>
          <p:spPr>
            <a:xfrm rot="-9082535">
              <a:off x="2104548" y="346780"/>
              <a:ext cx="1097368" cy="9066017"/>
            </a:xfrm>
            <a:custGeom>
              <a:avLst/>
              <a:gdLst/>
              <a:ahLst/>
              <a:cxnLst/>
              <a:rect l="l" t="t" r="r" b="b"/>
              <a:pathLst>
                <a:path w="1097368" h="9066017" extrusionOk="0">
                  <a:moveTo>
                    <a:pt x="0" y="0"/>
                  </a:moveTo>
                  <a:lnTo>
                    <a:pt x="1097369" y="0"/>
                  </a:lnTo>
                  <a:lnTo>
                    <a:pt x="1097369" y="9066017"/>
                  </a:lnTo>
                  <a:lnTo>
                    <a:pt x="0" y="9066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8ACC2073-5315-240E-F8CB-B734DBDE5595}"/>
              </a:ext>
            </a:extLst>
          </p:cNvPr>
          <p:cNvSpPr txBox="1"/>
          <p:nvPr/>
        </p:nvSpPr>
        <p:spPr>
          <a:xfrm>
            <a:off x="180968" y="127572"/>
            <a:ext cx="17926065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PH" sz="6500" b="1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Security Controls Plan</a:t>
            </a:r>
            <a:endParaRPr lang="en-US" dirty="0"/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B11E671C-8103-6323-21A7-05FA1FA8A554}"/>
              </a:ext>
            </a:extLst>
          </p:cNvPr>
          <p:cNvSpPr txBox="1"/>
          <p:nvPr/>
        </p:nvSpPr>
        <p:spPr>
          <a:xfrm>
            <a:off x="3697727" y="1418639"/>
            <a:ext cx="10877145" cy="7759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PH" sz="2600" b="1" dirty="0">
                <a:latin typeface="Cambria"/>
                <a:ea typeface="Cambria"/>
              </a:rPr>
              <a:t>Aligned with:</a:t>
            </a:r>
            <a:endParaRPr lang="en-US" sz="2600" b="1" dirty="0">
              <a:latin typeface="Cambria"/>
              <a:ea typeface="Cambria"/>
            </a:endParaRPr>
          </a:p>
          <a:p>
            <a:pPr marL="1028700" lvl="1" indent="-571500">
              <a:lnSpc>
                <a:spcPct val="150000"/>
              </a:lnSpc>
              <a:buFont typeface="Arial"/>
              <a:buChar char="•"/>
            </a:pPr>
            <a:r>
              <a:rPr lang="en-PH" sz="2600" b="1" dirty="0">
                <a:latin typeface="Cambria"/>
                <a:ea typeface="Cambria"/>
              </a:rPr>
              <a:t>NIST CSF (Protect/Detect/Respond/Recover)</a:t>
            </a:r>
            <a:endParaRPr lang="en-PH" sz="2600" b="1" dirty="0"/>
          </a:p>
          <a:p>
            <a:pPr marL="1028700" lvl="1" indent="-571500">
              <a:lnSpc>
                <a:spcPct val="150000"/>
              </a:lnSpc>
              <a:buFont typeface="Arial"/>
              <a:buChar char="•"/>
            </a:pPr>
            <a:r>
              <a:rPr lang="en-PH" sz="2600" b="1" dirty="0">
                <a:latin typeface="Cambria"/>
                <a:ea typeface="Cambria"/>
              </a:rPr>
              <a:t>ISO/IEC 27001</a:t>
            </a:r>
            <a:r>
              <a:rPr lang="en-PH" sz="2600" dirty="0">
                <a:latin typeface="Cambria"/>
                <a:ea typeface="Cambria"/>
              </a:rPr>
              <a:t> controls:</a:t>
            </a:r>
            <a:endParaRPr lang="en-PH" sz="2600"/>
          </a:p>
          <a:p>
            <a:pPr marL="1943100" lvl="3" indent="-571500">
              <a:lnSpc>
                <a:spcPct val="150000"/>
              </a:lnSpc>
              <a:buFont typeface="Wingdings"/>
              <a:buChar char="§"/>
            </a:pPr>
            <a:r>
              <a:rPr lang="en-PH" sz="2600" dirty="0">
                <a:latin typeface="Cambria"/>
                <a:ea typeface="Cambria"/>
              </a:rPr>
              <a:t>A.5 Policies</a:t>
            </a:r>
            <a:endParaRPr lang="en-PH" sz="2600"/>
          </a:p>
          <a:p>
            <a:pPr marL="1943100" lvl="3" indent="-571500">
              <a:lnSpc>
                <a:spcPct val="150000"/>
              </a:lnSpc>
              <a:buFont typeface="Wingdings"/>
              <a:buChar char="§"/>
            </a:pPr>
            <a:r>
              <a:rPr lang="en-PH" sz="2600" dirty="0">
                <a:latin typeface="Cambria"/>
                <a:ea typeface="Cambria"/>
              </a:rPr>
              <a:t>A.9 Access Control</a:t>
            </a:r>
            <a:endParaRPr lang="en-PH" sz="2600"/>
          </a:p>
          <a:p>
            <a:pPr marL="1943100" lvl="3" indent="-571500">
              <a:lnSpc>
                <a:spcPct val="150000"/>
              </a:lnSpc>
              <a:buFont typeface="Wingdings"/>
              <a:buChar char="§"/>
            </a:pPr>
            <a:r>
              <a:rPr lang="en-PH" sz="2600" dirty="0">
                <a:latin typeface="Cambria"/>
                <a:ea typeface="Cambria"/>
              </a:rPr>
              <a:t>A.10 Cryptography</a:t>
            </a:r>
            <a:endParaRPr lang="en-PH" sz="2600"/>
          </a:p>
          <a:p>
            <a:pPr marL="1943100" lvl="3" indent="-571500">
              <a:lnSpc>
                <a:spcPct val="150000"/>
              </a:lnSpc>
              <a:buFont typeface="Wingdings"/>
              <a:buChar char="§"/>
            </a:pPr>
            <a:r>
              <a:rPr lang="en-PH" sz="2600" dirty="0">
                <a:latin typeface="Cambria"/>
                <a:ea typeface="Cambria"/>
              </a:rPr>
              <a:t>A.12 Operations</a:t>
            </a:r>
            <a:endParaRPr lang="en-PH" sz="2600"/>
          </a:p>
          <a:p>
            <a:pPr marL="1943100" lvl="3" indent="-571500">
              <a:lnSpc>
                <a:spcPct val="150000"/>
              </a:lnSpc>
              <a:buFont typeface="Wingdings"/>
              <a:buChar char="§"/>
            </a:pPr>
            <a:r>
              <a:rPr lang="en-PH" sz="2600" dirty="0">
                <a:latin typeface="Cambria"/>
                <a:ea typeface="Cambria"/>
              </a:rPr>
              <a:t>A.16 Incident Management</a:t>
            </a:r>
            <a:endParaRPr lang="en-PH" sz="2600"/>
          </a:p>
          <a:p>
            <a:pPr>
              <a:lnSpc>
                <a:spcPct val="150000"/>
              </a:lnSpc>
            </a:pPr>
            <a:r>
              <a:rPr lang="en-PH" sz="2600" b="1" dirty="0">
                <a:latin typeface="Cambria"/>
                <a:ea typeface="Cambria"/>
              </a:rPr>
              <a:t>Controls Implemented:</a:t>
            </a:r>
            <a:endParaRPr lang="en-PH" sz="2600" b="1"/>
          </a:p>
          <a:p>
            <a:pPr marL="1028700" lvl="1" indent="-571500">
              <a:lnSpc>
                <a:spcPct val="150000"/>
              </a:lnSpc>
              <a:buChar char="•"/>
            </a:pPr>
            <a:r>
              <a:rPr lang="en-PH" sz="2600" dirty="0">
                <a:latin typeface="Cambria"/>
                <a:ea typeface="Cambria"/>
              </a:rPr>
              <a:t>MFA, Encryption, Firewalls, IDS/IPS</a:t>
            </a:r>
            <a:endParaRPr lang="en-PH" sz="2600"/>
          </a:p>
          <a:p>
            <a:pPr marL="1028700" lvl="1" indent="-571500">
              <a:lnSpc>
                <a:spcPct val="150000"/>
              </a:lnSpc>
              <a:buChar char="•"/>
            </a:pPr>
            <a:r>
              <a:rPr lang="en-PH" sz="2600" dirty="0">
                <a:latin typeface="Cambria"/>
                <a:ea typeface="Cambria"/>
              </a:rPr>
              <a:t>Separation of IT &amp; OT networks</a:t>
            </a:r>
            <a:endParaRPr lang="en-PH" sz="2600"/>
          </a:p>
          <a:p>
            <a:pPr marL="1028700" lvl="1" indent="-571500">
              <a:lnSpc>
                <a:spcPct val="150000"/>
              </a:lnSpc>
              <a:buChar char="•"/>
            </a:pPr>
            <a:r>
              <a:rPr lang="en-PH" sz="2600" dirty="0">
                <a:latin typeface="Cambria"/>
                <a:ea typeface="Cambria"/>
              </a:rPr>
              <a:t>Logging &amp; continuous monitoring</a:t>
            </a:r>
            <a:endParaRPr lang="en-PH" sz="2600"/>
          </a:p>
          <a:p>
            <a:pPr marL="571500" indent="-571500">
              <a:lnSpc>
                <a:spcPct val="150000"/>
              </a:lnSpc>
              <a:buChar char="•"/>
            </a:pPr>
            <a:endParaRPr lang="en-PH" sz="2600" dirty="0">
              <a:latin typeface="Cambria"/>
              <a:ea typeface="Cambria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78A89572-721B-7EDA-CDC9-5E093EF6F715}"/>
              </a:ext>
            </a:extLst>
          </p:cNvPr>
          <p:cNvSpPr/>
          <p:nvPr/>
        </p:nvSpPr>
        <p:spPr>
          <a:xfrm>
            <a:off x="1159209" y="9182845"/>
            <a:ext cx="5681363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4">
            <a:extLst>
              <a:ext uri="{FF2B5EF4-FFF2-40B4-BE49-F238E27FC236}">
                <a16:creationId xmlns:a16="http://schemas.microsoft.com/office/drawing/2014/main" id="{316DE000-D9EF-B1F6-EE51-F9F07CE20DC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7046" y="9018651"/>
            <a:ext cx="852163" cy="935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32663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9926AE7-B618-AF88-2ABE-D7E1494B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>
            <a:extLst>
              <a:ext uri="{FF2B5EF4-FFF2-40B4-BE49-F238E27FC236}">
                <a16:creationId xmlns:a16="http://schemas.microsoft.com/office/drawing/2014/main" id="{A0365B94-333A-13F8-B6D5-A094F8F1015B}"/>
              </a:ext>
            </a:extLst>
          </p:cNvPr>
          <p:cNvGrpSpPr/>
          <p:nvPr/>
        </p:nvGrpSpPr>
        <p:grpSpPr>
          <a:xfrm>
            <a:off x="0" y="0"/>
            <a:ext cx="18288000" cy="1257656"/>
            <a:chOff x="0" y="0"/>
            <a:chExt cx="2414767" cy="166062"/>
          </a:xfrm>
        </p:grpSpPr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1EDDE059-5939-E6DF-466C-D7AF2268A227}"/>
                </a:ext>
              </a:extLst>
            </p:cNvPr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831E82CA-2380-A2E8-03AA-2DB83036ABA3}"/>
                </a:ext>
              </a:extLst>
            </p:cNvPr>
            <p:cNvSpPr txBox="1"/>
            <p:nvPr/>
          </p:nvSpPr>
          <p:spPr>
            <a:xfrm>
              <a:off x="0" y="38100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5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C0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>
            <a:extLst>
              <a:ext uri="{FF2B5EF4-FFF2-40B4-BE49-F238E27FC236}">
                <a16:creationId xmlns:a16="http://schemas.microsoft.com/office/drawing/2014/main" id="{68397EFC-138E-B803-71C8-233B8580015D}"/>
              </a:ext>
            </a:extLst>
          </p:cNvPr>
          <p:cNvGrpSpPr/>
          <p:nvPr/>
        </p:nvGrpSpPr>
        <p:grpSpPr>
          <a:xfrm>
            <a:off x="15737979" y="5314950"/>
            <a:ext cx="6329829" cy="6841218"/>
            <a:chOff x="-1" y="0"/>
            <a:chExt cx="8439772" cy="9121624"/>
          </a:xfrm>
        </p:grpSpPr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A6250FB4-2FFC-7323-5938-872B791B9A7F}"/>
                </a:ext>
              </a:extLst>
            </p:cNvPr>
            <p:cNvSpPr/>
            <p:nvPr/>
          </p:nvSpPr>
          <p:spPr>
            <a:xfrm rot="-3667827">
              <a:off x="1264114" y="2411576"/>
              <a:ext cx="6945529" cy="4627459"/>
            </a:xfrm>
            <a:custGeom>
              <a:avLst/>
              <a:gdLst/>
              <a:ahLst/>
              <a:cxnLst/>
              <a:rect l="l" t="t" r="r" b="b"/>
              <a:pathLst>
                <a:path w="6945529" h="4627459" extrusionOk="0">
                  <a:moveTo>
                    <a:pt x="0" y="0"/>
                  </a:moveTo>
                  <a:lnTo>
                    <a:pt x="6945529" y="0"/>
                  </a:lnTo>
                  <a:lnTo>
                    <a:pt x="6945529" y="4627459"/>
                  </a:lnTo>
                  <a:lnTo>
                    <a:pt x="0" y="4627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18674885-3557-85CC-81DC-B325BF5919C8}"/>
                </a:ext>
              </a:extLst>
            </p:cNvPr>
            <p:cNvSpPr/>
            <p:nvPr/>
          </p:nvSpPr>
          <p:spPr>
            <a:xfrm rot="-9078345">
              <a:off x="1691527" y="-145375"/>
              <a:ext cx="1142777" cy="6835497"/>
            </a:xfrm>
            <a:custGeom>
              <a:avLst/>
              <a:gdLst/>
              <a:ahLst/>
              <a:cxnLst/>
              <a:rect l="l" t="t" r="r" b="b"/>
              <a:pathLst>
                <a:path w="1142777" h="6835497" extrusionOk="0">
                  <a:moveTo>
                    <a:pt x="0" y="0"/>
                  </a:moveTo>
                  <a:lnTo>
                    <a:pt x="1142777" y="0"/>
                  </a:lnTo>
                  <a:lnTo>
                    <a:pt x="1142777" y="6835497"/>
                  </a:lnTo>
                  <a:lnTo>
                    <a:pt x="0" y="6835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DAD28053-4857-4019-8E52-A94205D07946}"/>
                </a:ext>
              </a:extLst>
            </p:cNvPr>
            <p:cNvSpPr/>
            <p:nvPr/>
          </p:nvSpPr>
          <p:spPr>
            <a:xfrm rot="-9082535">
              <a:off x="2104548" y="346780"/>
              <a:ext cx="1097368" cy="9066017"/>
            </a:xfrm>
            <a:custGeom>
              <a:avLst/>
              <a:gdLst/>
              <a:ahLst/>
              <a:cxnLst/>
              <a:rect l="l" t="t" r="r" b="b"/>
              <a:pathLst>
                <a:path w="1097368" h="9066017" extrusionOk="0">
                  <a:moveTo>
                    <a:pt x="0" y="0"/>
                  </a:moveTo>
                  <a:lnTo>
                    <a:pt x="1097369" y="0"/>
                  </a:lnTo>
                  <a:lnTo>
                    <a:pt x="1097369" y="9066017"/>
                  </a:lnTo>
                  <a:lnTo>
                    <a:pt x="0" y="9066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FEB39BC1-0C64-7017-E208-02023627855E}"/>
              </a:ext>
            </a:extLst>
          </p:cNvPr>
          <p:cNvSpPr txBox="1"/>
          <p:nvPr/>
        </p:nvSpPr>
        <p:spPr>
          <a:xfrm>
            <a:off x="180968" y="127572"/>
            <a:ext cx="17926065" cy="2000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PH" sz="6500" b="1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Legal &amp; Ethical Compliance</a:t>
            </a:r>
            <a:endParaRPr lang="en-US" dirty="0"/>
          </a:p>
          <a:p>
            <a:pPr algn="ctr"/>
            <a:endParaRPr lang="en-PH" sz="6500" b="1" dirty="0">
              <a:solidFill>
                <a:srgbClr val="FFFFFF"/>
              </a:solidFill>
              <a:latin typeface="Cambria"/>
              <a:ea typeface="Cambria"/>
            </a:endParaRPr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44ADC599-1A39-C0E3-DF0A-831BA50DA71B}"/>
              </a:ext>
            </a:extLst>
          </p:cNvPr>
          <p:cNvSpPr txBox="1"/>
          <p:nvPr/>
        </p:nvSpPr>
        <p:spPr>
          <a:xfrm>
            <a:off x="1692085" y="2108752"/>
            <a:ext cx="14888428" cy="7478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PH" sz="3600" dirty="0">
                <a:latin typeface="Cambria"/>
                <a:ea typeface="Cambria"/>
              </a:rPr>
              <a:t>Compliance with:</a:t>
            </a:r>
            <a:endParaRPr lang="en-US" sz="3600" dirty="0">
              <a:latin typeface="Cambria"/>
              <a:ea typeface="Cambria"/>
            </a:endParaRPr>
          </a:p>
          <a:p>
            <a:pPr marL="1028700" lvl="1" indent="-571500">
              <a:lnSpc>
                <a:spcPct val="150000"/>
              </a:lnSpc>
              <a:buFont typeface="Arial"/>
              <a:buChar char="•"/>
            </a:pPr>
            <a:r>
              <a:rPr lang="en-PH" sz="3600" b="1" dirty="0">
                <a:latin typeface="Cambria"/>
                <a:ea typeface="Cambria"/>
              </a:rPr>
              <a:t>RA 10173 – </a:t>
            </a:r>
            <a:r>
              <a:rPr lang="en-PH" sz="3600" dirty="0">
                <a:latin typeface="Cambria"/>
                <a:ea typeface="Cambria"/>
              </a:rPr>
              <a:t>Data Privacy Act</a:t>
            </a:r>
            <a:endParaRPr lang="en-PH" sz="3600" dirty="0"/>
          </a:p>
          <a:p>
            <a:pPr marL="1028700" lvl="1" indent="-571500">
              <a:lnSpc>
                <a:spcPct val="150000"/>
              </a:lnSpc>
              <a:buFont typeface="Arial"/>
              <a:buChar char="•"/>
            </a:pPr>
            <a:r>
              <a:rPr lang="en-PH" sz="3600" b="1" dirty="0">
                <a:latin typeface="Cambria"/>
                <a:ea typeface="Cambria"/>
              </a:rPr>
              <a:t>RA 10175 – </a:t>
            </a:r>
            <a:r>
              <a:rPr lang="en-PH" sz="3600" dirty="0">
                <a:latin typeface="Cambria"/>
                <a:ea typeface="Cambria"/>
              </a:rPr>
              <a:t>Cybercrime Prevention Act</a:t>
            </a:r>
            <a:endParaRPr lang="en-PH" sz="3600"/>
          </a:p>
          <a:p>
            <a:pPr marL="1028700" lvl="1" indent="-571500">
              <a:lnSpc>
                <a:spcPct val="150000"/>
              </a:lnSpc>
              <a:buFont typeface="Arial"/>
              <a:buChar char="•"/>
            </a:pPr>
            <a:r>
              <a:rPr lang="en-PH" sz="3600" b="1" dirty="0">
                <a:latin typeface="Cambria"/>
                <a:ea typeface="Cambria"/>
              </a:rPr>
              <a:t>RA 8792 – </a:t>
            </a:r>
            <a:r>
              <a:rPr lang="en-PH" sz="3600" dirty="0">
                <a:latin typeface="Cambria"/>
                <a:ea typeface="Cambria"/>
              </a:rPr>
              <a:t>E-Commerce Act</a:t>
            </a:r>
            <a:endParaRPr lang="en-PH" sz="3600"/>
          </a:p>
          <a:p>
            <a:pPr marL="1028700" lvl="1" indent="-571500">
              <a:lnSpc>
                <a:spcPct val="150000"/>
              </a:lnSpc>
              <a:buFont typeface="Arial"/>
              <a:buChar char="•"/>
            </a:pPr>
            <a:r>
              <a:rPr lang="en-PH" sz="3600" b="1" dirty="0">
                <a:latin typeface="Cambria"/>
                <a:ea typeface="Cambria"/>
              </a:rPr>
              <a:t>RA 10844 – </a:t>
            </a:r>
            <a:r>
              <a:rPr lang="en-PH" sz="3600" dirty="0">
                <a:latin typeface="Cambria"/>
                <a:ea typeface="Cambria"/>
              </a:rPr>
              <a:t>DICT Act</a:t>
            </a:r>
            <a:endParaRPr lang="en-PH" sz="3600"/>
          </a:p>
          <a:p>
            <a:pPr marL="1028700" lvl="1" indent="-571500">
              <a:lnSpc>
                <a:spcPct val="150000"/>
              </a:lnSpc>
              <a:buFont typeface="Arial"/>
              <a:buChar char="•"/>
            </a:pPr>
            <a:r>
              <a:rPr lang="en-PH" sz="3600" b="1" dirty="0">
                <a:latin typeface="Cambria"/>
                <a:ea typeface="Cambria"/>
              </a:rPr>
              <a:t>GDPR </a:t>
            </a:r>
            <a:r>
              <a:rPr lang="en-PH" sz="3600" dirty="0">
                <a:latin typeface="Cambria"/>
                <a:ea typeface="Cambria"/>
              </a:rPr>
              <a:t>(best practice)</a:t>
            </a:r>
            <a:endParaRPr lang="en-PH" sz="3600"/>
          </a:p>
          <a:p>
            <a:pPr marL="1028700" lvl="1" indent="-571500">
              <a:lnSpc>
                <a:spcPct val="150000"/>
              </a:lnSpc>
              <a:buFont typeface="Arial"/>
              <a:buChar char="•"/>
            </a:pPr>
            <a:r>
              <a:rPr lang="en-PH" sz="3600" b="1" dirty="0">
                <a:latin typeface="Cambria"/>
                <a:ea typeface="Cambria"/>
              </a:rPr>
              <a:t>ISO 27001, ISO 27701</a:t>
            </a:r>
            <a:endParaRPr lang="en-PH" sz="3600" b="1"/>
          </a:p>
          <a:p>
            <a:pPr>
              <a:lnSpc>
                <a:spcPct val="150000"/>
              </a:lnSpc>
            </a:pPr>
            <a:r>
              <a:rPr lang="en-PH" sz="3600" dirty="0">
                <a:latin typeface="Cambria"/>
                <a:ea typeface="Cambria"/>
              </a:rPr>
              <a:t>Ensures confidentiality, integrity, availability, and lawful data processing.</a:t>
            </a:r>
            <a:endParaRPr lang="en-PH" sz="3600"/>
          </a:p>
          <a:p>
            <a:pPr marL="571500" indent="-571500">
              <a:lnSpc>
                <a:spcPct val="150000"/>
              </a:lnSpc>
              <a:buChar char="•"/>
            </a:pPr>
            <a:endParaRPr lang="en-PH" sz="3600" dirty="0">
              <a:latin typeface="Cambria"/>
              <a:ea typeface="Cambria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6782973D-88FF-71EC-18AB-62D0E8CB5719}"/>
              </a:ext>
            </a:extLst>
          </p:cNvPr>
          <p:cNvSpPr/>
          <p:nvPr/>
        </p:nvSpPr>
        <p:spPr>
          <a:xfrm>
            <a:off x="1159209" y="9182845"/>
            <a:ext cx="5681363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4">
            <a:extLst>
              <a:ext uri="{FF2B5EF4-FFF2-40B4-BE49-F238E27FC236}">
                <a16:creationId xmlns:a16="http://schemas.microsoft.com/office/drawing/2014/main" id="{73489C87-B1F8-174D-9264-546486FF44B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7046" y="9018651"/>
            <a:ext cx="852163" cy="935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1911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38F14A3E-5B0E-84F6-A48C-9000CB518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>
            <a:extLst>
              <a:ext uri="{FF2B5EF4-FFF2-40B4-BE49-F238E27FC236}">
                <a16:creationId xmlns:a16="http://schemas.microsoft.com/office/drawing/2014/main" id="{4C0F8E19-6D13-3AA5-50E5-907522C1C32B}"/>
              </a:ext>
            </a:extLst>
          </p:cNvPr>
          <p:cNvGrpSpPr/>
          <p:nvPr/>
        </p:nvGrpSpPr>
        <p:grpSpPr>
          <a:xfrm>
            <a:off x="0" y="0"/>
            <a:ext cx="18288000" cy="1257656"/>
            <a:chOff x="0" y="0"/>
            <a:chExt cx="2414767" cy="166062"/>
          </a:xfrm>
        </p:grpSpPr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571D368F-B250-1D7F-6887-30E0D25292E5}"/>
                </a:ext>
              </a:extLst>
            </p:cNvPr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1178D1BD-61E1-0BC1-CD5B-0D17924E40FA}"/>
                </a:ext>
              </a:extLst>
            </p:cNvPr>
            <p:cNvSpPr txBox="1"/>
            <p:nvPr/>
          </p:nvSpPr>
          <p:spPr>
            <a:xfrm>
              <a:off x="0" y="38100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5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C0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>
            <a:extLst>
              <a:ext uri="{FF2B5EF4-FFF2-40B4-BE49-F238E27FC236}">
                <a16:creationId xmlns:a16="http://schemas.microsoft.com/office/drawing/2014/main" id="{82D34C53-169C-75CF-75EE-CF46F1D67E6A}"/>
              </a:ext>
            </a:extLst>
          </p:cNvPr>
          <p:cNvGrpSpPr/>
          <p:nvPr/>
        </p:nvGrpSpPr>
        <p:grpSpPr>
          <a:xfrm>
            <a:off x="15737979" y="5314950"/>
            <a:ext cx="6329829" cy="6841218"/>
            <a:chOff x="-1" y="0"/>
            <a:chExt cx="8439772" cy="9121624"/>
          </a:xfrm>
        </p:grpSpPr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DC75B9BE-F2AE-F6B1-1BF3-44E0D7425C24}"/>
                </a:ext>
              </a:extLst>
            </p:cNvPr>
            <p:cNvSpPr/>
            <p:nvPr/>
          </p:nvSpPr>
          <p:spPr>
            <a:xfrm rot="-3667827">
              <a:off x="1264114" y="2411576"/>
              <a:ext cx="6945529" cy="4627459"/>
            </a:xfrm>
            <a:custGeom>
              <a:avLst/>
              <a:gdLst/>
              <a:ahLst/>
              <a:cxnLst/>
              <a:rect l="l" t="t" r="r" b="b"/>
              <a:pathLst>
                <a:path w="6945529" h="4627459" extrusionOk="0">
                  <a:moveTo>
                    <a:pt x="0" y="0"/>
                  </a:moveTo>
                  <a:lnTo>
                    <a:pt x="6945529" y="0"/>
                  </a:lnTo>
                  <a:lnTo>
                    <a:pt x="6945529" y="4627459"/>
                  </a:lnTo>
                  <a:lnTo>
                    <a:pt x="0" y="4627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63B0A1CB-42D3-0188-987E-C8752C85C9C7}"/>
                </a:ext>
              </a:extLst>
            </p:cNvPr>
            <p:cNvSpPr/>
            <p:nvPr/>
          </p:nvSpPr>
          <p:spPr>
            <a:xfrm rot="-9078345">
              <a:off x="1691527" y="-145375"/>
              <a:ext cx="1142777" cy="6835497"/>
            </a:xfrm>
            <a:custGeom>
              <a:avLst/>
              <a:gdLst/>
              <a:ahLst/>
              <a:cxnLst/>
              <a:rect l="l" t="t" r="r" b="b"/>
              <a:pathLst>
                <a:path w="1142777" h="6835497" extrusionOk="0">
                  <a:moveTo>
                    <a:pt x="0" y="0"/>
                  </a:moveTo>
                  <a:lnTo>
                    <a:pt x="1142777" y="0"/>
                  </a:lnTo>
                  <a:lnTo>
                    <a:pt x="1142777" y="6835497"/>
                  </a:lnTo>
                  <a:lnTo>
                    <a:pt x="0" y="6835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755C5B45-4509-F3A5-C4AA-650C89ACEB78}"/>
                </a:ext>
              </a:extLst>
            </p:cNvPr>
            <p:cNvSpPr/>
            <p:nvPr/>
          </p:nvSpPr>
          <p:spPr>
            <a:xfrm rot="-9082535">
              <a:off x="2104548" y="346780"/>
              <a:ext cx="1097368" cy="9066017"/>
            </a:xfrm>
            <a:custGeom>
              <a:avLst/>
              <a:gdLst/>
              <a:ahLst/>
              <a:cxnLst/>
              <a:rect l="l" t="t" r="r" b="b"/>
              <a:pathLst>
                <a:path w="1097368" h="9066017" extrusionOk="0">
                  <a:moveTo>
                    <a:pt x="0" y="0"/>
                  </a:moveTo>
                  <a:lnTo>
                    <a:pt x="1097369" y="0"/>
                  </a:lnTo>
                  <a:lnTo>
                    <a:pt x="1097369" y="9066017"/>
                  </a:lnTo>
                  <a:lnTo>
                    <a:pt x="0" y="9066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4A36B3DD-52B8-B0A9-22C1-DFD84BAD7D8D}"/>
              </a:ext>
            </a:extLst>
          </p:cNvPr>
          <p:cNvSpPr txBox="1"/>
          <p:nvPr/>
        </p:nvSpPr>
        <p:spPr>
          <a:xfrm>
            <a:off x="180968" y="127572"/>
            <a:ext cx="17926065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PH" sz="6500" b="1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Incident Handling &amp; Reporting Plan</a:t>
            </a:r>
            <a:endParaRPr lang="en-US" dirty="0"/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0098790C-43FB-A5B1-AE7E-AD03BC37EC61}"/>
              </a:ext>
            </a:extLst>
          </p:cNvPr>
          <p:cNvSpPr txBox="1"/>
          <p:nvPr/>
        </p:nvSpPr>
        <p:spPr>
          <a:xfrm>
            <a:off x="3223274" y="1440205"/>
            <a:ext cx="9755712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PH" sz="2800" dirty="0">
                <a:latin typeface="Cambria"/>
                <a:ea typeface="Cambria"/>
              </a:rPr>
              <a:t>Based on </a:t>
            </a:r>
            <a:r>
              <a:rPr lang="en-PH" sz="2800" b="1" dirty="0">
                <a:latin typeface="Cambria"/>
                <a:ea typeface="Cambria"/>
              </a:rPr>
              <a:t>NIST SP 800-61:</a:t>
            </a:r>
            <a:endParaRPr lang="en-US" sz="2800" b="1"/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PH" sz="2800" b="1" dirty="0">
                <a:latin typeface="Cambria"/>
                <a:ea typeface="Cambria"/>
              </a:rPr>
              <a:t>Preparation</a:t>
            </a:r>
            <a:endParaRPr lang="en-PH" sz="2800" b="1"/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PH" sz="2800" b="1" dirty="0">
                <a:latin typeface="Cambria"/>
                <a:ea typeface="Cambria"/>
              </a:rPr>
              <a:t>Detection &amp; Analysis</a:t>
            </a:r>
            <a:endParaRPr lang="en-PH" sz="2800" b="1"/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PH" sz="2800" b="1" dirty="0">
                <a:latin typeface="Cambria"/>
                <a:ea typeface="Cambria"/>
              </a:rPr>
              <a:t>Containment</a:t>
            </a:r>
            <a:endParaRPr lang="en-PH" sz="2800" b="1"/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PH" sz="2800" b="1" dirty="0">
                <a:latin typeface="Cambria"/>
                <a:ea typeface="Cambria"/>
              </a:rPr>
              <a:t>Eradication</a:t>
            </a:r>
            <a:endParaRPr lang="en-PH" sz="2800" b="1"/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PH" sz="2800" b="1" dirty="0">
                <a:latin typeface="Cambria"/>
                <a:ea typeface="Cambria"/>
              </a:rPr>
              <a:t>Recovery</a:t>
            </a:r>
            <a:endParaRPr lang="en-PH" sz="2800" b="1"/>
          </a:p>
          <a:p>
            <a:pPr marL="971550" lvl="1" indent="-514350">
              <a:lnSpc>
                <a:spcPct val="150000"/>
              </a:lnSpc>
              <a:buAutoNum type="arabicPeriod"/>
            </a:pPr>
            <a:r>
              <a:rPr lang="en-PH" sz="2800" b="1" dirty="0">
                <a:latin typeface="Cambria"/>
                <a:ea typeface="Cambria"/>
              </a:rPr>
              <a:t>Lessons Learned</a:t>
            </a:r>
            <a:endParaRPr lang="en-PH" sz="2800" b="1"/>
          </a:p>
          <a:p>
            <a:pPr>
              <a:lnSpc>
                <a:spcPct val="150000"/>
              </a:lnSpc>
            </a:pPr>
            <a:r>
              <a:rPr lang="en-PH" sz="2800" b="1" dirty="0">
                <a:latin typeface="Cambria"/>
                <a:ea typeface="Cambria"/>
              </a:rPr>
              <a:t>Includes:</a:t>
            </a:r>
            <a:endParaRPr lang="en-PH" sz="2800" b="1"/>
          </a:p>
          <a:p>
            <a:pPr marL="914400" lvl="1" indent="-457200">
              <a:lnSpc>
                <a:spcPct val="150000"/>
              </a:lnSpc>
              <a:buChar char="•"/>
            </a:pPr>
            <a:r>
              <a:rPr lang="en-PH" sz="2800" b="1" dirty="0">
                <a:latin typeface="Cambria"/>
                <a:ea typeface="Cambria"/>
              </a:rPr>
              <a:t>Escalation workflow</a:t>
            </a:r>
            <a:endParaRPr lang="en-PH" sz="2800" b="1"/>
          </a:p>
          <a:p>
            <a:pPr marL="914400" lvl="1" indent="-457200">
              <a:lnSpc>
                <a:spcPct val="150000"/>
              </a:lnSpc>
              <a:buChar char="•"/>
            </a:pPr>
            <a:r>
              <a:rPr lang="en-PH" sz="2800" b="1" dirty="0">
                <a:latin typeface="Cambria"/>
                <a:ea typeface="Cambria"/>
              </a:rPr>
              <a:t>Forensics-ready logging</a:t>
            </a:r>
            <a:endParaRPr lang="en-PH" sz="2800" b="1"/>
          </a:p>
          <a:p>
            <a:pPr marL="914400" lvl="1" indent="-457200">
              <a:lnSpc>
                <a:spcPct val="150000"/>
              </a:lnSpc>
              <a:buChar char="•"/>
            </a:pPr>
            <a:r>
              <a:rPr lang="en-PH" sz="2800" b="1" dirty="0">
                <a:latin typeface="Cambria"/>
                <a:ea typeface="Cambria"/>
              </a:rPr>
              <a:t>Communication procedures</a:t>
            </a:r>
            <a:endParaRPr lang="en-PH" sz="2800" b="1"/>
          </a:p>
          <a:p>
            <a:pPr>
              <a:lnSpc>
                <a:spcPct val="150000"/>
              </a:lnSpc>
            </a:pPr>
            <a:endParaRPr lang="en-PH" sz="2800" b="1" dirty="0">
              <a:latin typeface="Cambria"/>
              <a:ea typeface="Cambria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F614C195-04D9-078B-62A8-6462E41BF390}"/>
              </a:ext>
            </a:extLst>
          </p:cNvPr>
          <p:cNvSpPr/>
          <p:nvPr/>
        </p:nvSpPr>
        <p:spPr>
          <a:xfrm>
            <a:off x="1159209" y="9182845"/>
            <a:ext cx="5681363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4">
            <a:extLst>
              <a:ext uri="{FF2B5EF4-FFF2-40B4-BE49-F238E27FC236}">
                <a16:creationId xmlns:a16="http://schemas.microsoft.com/office/drawing/2014/main" id="{4CDC8EA6-BA3A-8E24-6937-F5119616D92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7046" y="9018651"/>
            <a:ext cx="852163" cy="935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0971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A06BC578-79E6-EF68-B44B-5D21FEAE7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>
            <a:extLst>
              <a:ext uri="{FF2B5EF4-FFF2-40B4-BE49-F238E27FC236}">
                <a16:creationId xmlns:a16="http://schemas.microsoft.com/office/drawing/2014/main" id="{752B44B1-5BB2-9C49-FA2F-CAEBEB0E7710}"/>
              </a:ext>
            </a:extLst>
          </p:cNvPr>
          <p:cNvGrpSpPr/>
          <p:nvPr/>
        </p:nvGrpSpPr>
        <p:grpSpPr>
          <a:xfrm>
            <a:off x="0" y="0"/>
            <a:ext cx="18288000" cy="1257656"/>
            <a:chOff x="0" y="0"/>
            <a:chExt cx="2414767" cy="166062"/>
          </a:xfrm>
        </p:grpSpPr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0D18F705-08D0-4D2A-BD41-DCD0DA87D2E0}"/>
                </a:ext>
              </a:extLst>
            </p:cNvPr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05A25FB0-5C42-3489-1C1A-8689ABCCB080}"/>
                </a:ext>
              </a:extLst>
            </p:cNvPr>
            <p:cNvSpPr txBox="1"/>
            <p:nvPr/>
          </p:nvSpPr>
          <p:spPr>
            <a:xfrm>
              <a:off x="0" y="38100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5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C0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>
            <a:extLst>
              <a:ext uri="{FF2B5EF4-FFF2-40B4-BE49-F238E27FC236}">
                <a16:creationId xmlns:a16="http://schemas.microsoft.com/office/drawing/2014/main" id="{041C8112-A1CC-1789-FD1D-AA6CB147945B}"/>
              </a:ext>
            </a:extLst>
          </p:cNvPr>
          <p:cNvGrpSpPr/>
          <p:nvPr/>
        </p:nvGrpSpPr>
        <p:grpSpPr>
          <a:xfrm>
            <a:off x="15737979" y="5314950"/>
            <a:ext cx="6329829" cy="6841218"/>
            <a:chOff x="-1" y="0"/>
            <a:chExt cx="8439772" cy="9121624"/>
          </a:xfrm>
        </p:grpSpPr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1DBDE62B-4CA9-0D14-6E4B-6E2ADE64F67D}"/>
                </a:ext>
              </a:extLst>
            </p:cNvPr>
            <p:cNvSpPr/>
            <p:nvPr/>
          </p:nvSpPr>
          <p:spPr>
            <a:xfrm rot="-3667827">
              <a:off x="1264114" y="2411576"/>
              <a:ext cx="6945529" cy="4627459"/>
            </a:xfrm>
            <a:custGeom>
              <a:avLst/>
              <a:gdLst/>
              <a:ahLst/>
              <a:cxnLst/>
              <a:rect l="l" t="t" r="r" b="b"/>
              <a:pathLst>
                <a:path w="6945529" h="4627459" extrusionOk="0">
                  <a:moveTo>
                    <a:pt x="0" y="0"/>
                  </a:moveTo>
                  <a:lnTo>
                    <a:pt x="6945529" y="0"/>
                  </a:lnTo>
                  <a:lnTo>
                    <a:pt x="6945529" y="4627459"/>
                  </a:lnTo>
                  <a:lnTo>
                    <a:pt x="0" y="4627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4E14EE77-3693-BA7F-F668-89D9AA916433}"/>
                </a:ext>
              </a:extLst>
            </p:cNvPr>
            <p:cNvSpPr/>
            <p:nvPr/>
          </p:nvSpPr>
          <p:spPr>
            <a:xfrm rot="-9078345">
              <a:off x="1691527" y="-145375"/>
              <a:ext cx="1142777" cy="6835497"/>
            </a:xfrm>
            <a:custGeom>
              <a:avLst/>
              <a:gdLst/>
              <a:ahLst/>
              <a:cxnLst/>
              <a:rect l="l" t="t" r="r" b="b"/>
              <a:pathLst>
                <a:path w="1142777" h="6835497" extrusionOk="0">
                  <a:moveTo>
                    <a:pt x="0" y="0"/>
                  </a:moveTo>
                  <a:lnTo>
                    <a:pt x="1142777" y="0"/>
                  </a:lnTo>
                  <a:lnTo>
                    <a:pt x="1142777" y="6835497"/>
                  </a:lnTo>
                  <a:lnTo>
                    <a:pt x="0" y="6835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FF70AA22-D22F-8FB8-DBB0-549C6E66C790}"/>
                </a:ext>
              </a:extLst>
            </p:cNvPr>
            <p:cNvSpPr/>
            <p:nvPr/>
          </p:nvSpPr>
          <p:spPr>
            <a:xfrm rot="-9082535">
              <a:off x="2104548" y="346780"/>
              <a:ext cx="1097368" cy="9066017"/>
            </a:xfrm>
            <a:custGeom>
              <a:avLst/>
              <a:gdLst/>
              <a:ahLst/>
              <a:cxnLst/>
              <a:rect l="l" t="t" r="r" b="b"/>
              <a:pathLst>
                <a:path w="1097368" h="9066017" extrusionOk="0">
                  <a:moveTo>
                    <a:pt x="0" y="0"/>
                  </a:moveTo>
                  <a:lnTo>
                    <a:pt x="1097369" y="0"/>
                  </a:lnTo>
                  <a:lnTo>
                    <a:pt x="1097369" y="9066017"/>
                  </a:lnTo>
                  <a:lnTo>
                    <a:pt x="0" y="9066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3E236DD3-5F77-3720-C2BF-3001773AB38A}"/>
              </a:ext>
            </a:extLst>
          </p:cNvPr>
          <p:cNvSpPr txBox="1"/>
          <p:nvPr/>
        </p:nvSpPr>
        <p:spPr>
          <a:xfrm>
            <a:off x="180968" y="127572"/>
            <a:ext cx="17926065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PH" sz="6500" b="1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Business Impact Analysis (BIA)</a:t>
            </a:r>
            <a:endParaRPr lang="en-US" dirty="0"/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0E1086B7-8B6A-2A16-006B-93F0AA061BD6}"/>
              </a:ext>
            </a:extLst>
          </p:cNvPr>
          <p:cNvSpPr txBox="1"/>
          <p:nvPr/>
        </p:nvSpPr>
        <p:spPr>
          <a:xfrm>
            <a:off x="1692085" y="2108752"/>
            <a:ext cx="14888428" cy="7109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Char char="•"/>
            </a:pPr>
            <a:r>
              <a:rPr lang="en-PH" sz="4400" dirty="0">
                <a:latin typeface="Cambria"/>
                <a:ea typeface="Cambria"/>
              </a:rPr>
              <a:t>Critical functions identified</a:t>
            </a:r>
            <a:endParaRPr lang="en-US" sz="4400" dirty="0"/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400" dirty="0">
                <a:latin typeface="Cambria"/>
                <a:ea typeface="Cambria"/>
              </a:rPr>
              <a:t>Impact categories: financial, operational, reputational</a:t>
            </a:r>
            <a:endParaRPr lang="en-US" sz="4400" dirty="0"/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400" dirty="0">
                <a:latin typeface="Cambria"/>
                <a:ea typeface="Cambria"/>
              </a:rPr>
              <a:t>Recovery metrics:</a:t>
            </a:r>
            <a:endParaRPr lang="en-PH" sz="4400" dirty="0"/>
          </a:p>
          <a:p>
            <a:pPr marL="1485900" lvl="2" indent="-571500">
              <a:lnSpc>
                <a:spcPct val="150000"/>
              </a:lnSpc>
              <a:buFont typeface="Wingdings"/>
              <a:buChar char="§"/>
            </a:pPr>
            <a:r>
              <a:rPr lang="en-PH" sz="4400" b="1" dirty="0">
                <a:latin typeface="Cambria"/>
                <a:ea typeface="Cambria"/>
              </a:rPr>
              <a:t>RTO (Recovery Time Objective)</a:t>
            </a:r>
            <a:endParaRPr lang="en-PH" sz="4400" dirty="0"/>
          </a:p>
          <a:p>
            <a:pPr marL="1485900" lvl="2" indent="-571500">
              <a:lnSpc>
                <a:spcPct val="150000"/>
              </a:lnSpc>
              <a:buFont typeface="Wingdings"/>
              <a:buChar char="§"/>
            </a:pPr>
            <a:r>
              <a:rPr lang="en-PH" sz="4400" b="1" dirty="0">
                <a:latin typeface="Cambria"/>
                <a:ea typeface="Cambria"/>
              </a:rPr>
              <a:t>RPO (Recovery Point Objective)</a:t>
            </a:r>
            <a:endParaRPr lang="en-PH" sz="4400" dirty="0"/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400" dirty="0">
                <a:latin typeface="Cambria"/>
                <a:ea typeface="Cambria"/>
              </a:rPr>
              <a:t>Alignment with </a:t>
            </a:r>
            <a:r>
              <a:rPr lang="en-PH" sz="4400" b="1" dirty="0">
                <a:latin typeface="Cambria"/>
                <a:ea typeface="Cambria"/>
              </a:rPr>
              <a:t>ISO 22301</a:t>
            </a:r>
            <a:endParaRPr lang="en-PH" sz="4400" dirty="0"/>
          </a:p>
          <a:p>
            <a:pPr>
              <a:lnSpc>
                <a:spcPct val="150000"/>
              </a:lnSpc>
            </a:pPr>
            <a:endParaRPr lang="en-PH" sz="4400" b="1" dirty="0">
              <a:latin typeface="Cambria"/>
              <a:ea typeface="Cambria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4D2D6439-3459-904B-0A89-3F44AFA97F54}"/>
              </a:ext>
            </a:extLst>
          </p:cNvPr>
          <p:cNvSpPr/>
          <p:nvPr/>
        </p:nvSpPr>
        <p:spPr>
          <a:xfrm>
            <a:off x="1159209" y="9182845"/>
            <a:ext cx="5681363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4">
            <a:extLst>
              <a:ext uri="{FF2B5EF4-FFF2-40B4-BE49-F238E27FC236}">
                <a16:creationId xmlns:a16="http://schemas.microsoft.com/office/drawing/2014/main" id="{44685D33-4D60-CA93-3168-D47D26483B9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7046" y="9018651"/>
            <a:ext cx="852163" cy="935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70497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94E9C1-33D1-E635-BDEA-EECAAEC33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>
            <a:extLst>
              <a:ext uri="{FF2B5EF4-FFF2-40B4-BE49-F238E27FC236}">
                <a16:creationId xmlns:a16="http://schemas.microsoft.com/office/drawing/2014/main" id="{1A6F8DC3-716F-2D7C-E366-AE064CA3D391}"/>
              </a:ext>
            </a:extLst>
          </p:cNvPr>
          <p:cNvGrpSpPr/>
          <p:nvPr/>
        </p:nvGrpSpPr>
        <p:grpSpPr>
          <a:xfrm>
            <a:off x="0" y="0"/>
            <a:ext cx="18288000" cy="1257656"/>
            <a:chOff x="0" y="0"/>
            <a:chExt cx="2414767" cy="166062"/>
          </a:xfrm>
        </p:grpSpPr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8CBF1BD9-503A-D0EA-085F-77872D14B47D}"/>
                </a:ext>
              </a:extLst>
            </p:cNvPr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F2FBE289-DDCE-6AF7-8B8C-EFBA32D8CA7E}"/>
                </a:ext>
              </a:extLst>
            </p:cNvPr>
            <p:cNvSpPr txBox="1"/>
            <p:nvPr/>
          </p:nvSpPr>
          <p:spPr>
            <a:xfrm>
              <a:off x="0" y="38100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5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C0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>
            <a:extLst>
              <a:ext uri="{FF2B5EF4-FFF2-40B4-BE49-F238E27FC236}">
                <a16:creationId xmlns:a16="http://schemas.microsoft.com/office/drawing/2014/main" id="{4BAAB11B-0A0B-E19A-0352-737610FB8B04}"/>
              </a:ext>
            </a:extLst>
          </p:cNvPr>
          <p:cNvGrpSpPr/>
          <p:nvPr/>
        </p:nvGrpSpPr>
        <p:grpSpPr>
          <a:xfrm>
            <a:off x="15737979" y="5314950"/>
            <a:ext cx="6329829" cy="6841218"/>
            <a:chOff x="-1" y="0"/>
            <a:chExt cx="8439772" cy="9121624"/>
          </a:xfrm>
        </p:grpSpPr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26B8DBEF-BF9E-79C5-62C6-28948FE5DDDB}"/>
                </a:ext>
              </a:extLst>
            </p:cNvPr>
            <p:cNvSpPr/>
            <p:nvPr/>
          </p:nvSpPr>
          <p:spPr>
            <a:xfrm rot="-3667827">
              <a:off x="1264114" y="2411576"/>
              <a:ext cx="6945529" cy="4627459"/>
            </a:xfrm>
            <a:custGeom>
              <a:avLst/>
              <a:gdLst/>
              <a:ahLst/>
              <a:cxnLst/>
              <a:rect l="l" t="t" r="r" b="b"/>
              <a:pathLst>
                <a:path w="6945529" h="4627459" extrusionOk="0">
                  <a:moveTo>
                    <a:pt x="0" y="0"/>
                  </a:moveTo>
                  <a:lnTo>
                    <a:pt x="6945529" y="0"/>
                  </a:lnTo>
                  <a:lnTo>
                    <a:pt x="6945529" y="4627459"/>
                  </a:lnTo>
                  <a:lnTo>
                    <a:pt x="0" y="4627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114458AD-400C-2960-4E67-A5B428149246}"/>
                </a:ext>
              </a:extLst>
            </p:cNvPr>
            <p:cNvSpPr/>
            <p:nvPr/>
          </p:nvSpPr>
          <p:spPr>
            <a:xfrm rot="-9078345">
              <a:off x="1691527" y="-145375"/>
              <a:ext cx="1142777" cy="6835497"/>
            </a:xfrm>
            <a:custGeom>
              <a:avLst/>
              <a:gdLst/>
              <a:ahLst/>
              <a:cxnLst/>
              <a:rect l="l" t="t" r="r" b="b"/>
              <a:pathLst>
                <a:path w="1142777" h="6835497" extrusionOk="0">
                  <a:moveTo>
                    <a:pt x="0" y="0"/>
                  </a:moveTo>
                  <a:lnTo>
                    <a:pt x="1142777" y="0"/>
                  </a:lnTo>
                  <a:lnTo>
                    <a:pt x="1142777" y="6835497"/>
                  </a:lnTo>
                  <a:lnTo>
                    <a:pt x="0" y="6835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FCDAE81D-694D-53C7-C92A-7D8E9C7B9CC9}"/>
                </a:ext>
              </a:extLst>
            </p:cNvPr>
            <p:cNvSpPr/>
            <p:nvPr/>
          </p:nvSpPr>
          <p:spPr>
            <a:xfrm rot="-9082535">
              <a:off x="2104548" y="346780"/>
              <a:ext cx="1097368" cy="9066017"/>
            </a:xfrm>
            <a:custGeom>
              <a:avLst/>
              <a:gdLst/>
              <a:ahLst/>
              <a:cxnLst/>
              <a:rect l="l" t="t" r="r" b="b"/>
              <a:pathLst>
                <a:path w="1097368" h="9066017" extrusionOk="0">
                  <a:moveTo>
                    <a:pt x="0" y="0"/>
                  </a:moveTo>
                  <a:lnTo>
                    <a:pt x="1097369" y="0"/>
                  </a:lnTo>
                  <a:lnTo>
                    <a:pt x="1097369" y="9066017"/>
                  </a:lnTo>
                  <a:lnTo>
                    <a:pt x="0" y="9066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7C0927BF-2526-C816-D538-3B21DCBBDBDE}"/>
              </a:ext>
            </a:extLst>
          </p:cNvPr>
          <p:cNvSpPr txBox="1"/>
          <p:nvPr/>
        </p:nvSpPr>
        <p:spPr>
          <a:xfrm>
            <a:off x="180968" y="127572"/>
            <a:ext cx="17926065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PH" sz="6500" b="1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Key Findings</a:t>
            </a:r>
            <a:endParaRPr lang="en-US" dirty="0"/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0A3658EE-9928-F882-B942-FA45102E3B32}"/>
              </a:ext>
            </a:extLst>
          </p:cNvPr>
          <p:cNvSpPr txBox="1"/>
          <p:nvPr/>
        </p:nvSpPr>
        <p:spPr>
          <a:xfrm>
            <a:off x="1692085" y="2777299"/>
            <a:ext cx="14888428" cy="5078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Char char="•"/>
            </a:pPr>
            <a:r>
              <a:rPr lang="en-PH" sz="4400">
                <a:latin typeface="Cambria"/>
                <a:ea typeface="Cambria"/>
              </a:rPr>
              <a:t>Strong need for encryption &amp; data governance</a:t>
            </a:r>
            <a:endParaRPr lang="en-US" sz="4400"/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PH" sz="4400">
                <a:latin typeface="Cambria"/>
                <a:ea typeface="Cambria"/>
              </a:rPr>
              <a:t>OT–IT convergence increases risk</a:t>
            </a:r>
            <a:endParaRPr lang="en-PH"/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PH" sz="4400">
                <a:latin typeface="Cambria"/>
                <a:ea typeface="Cambria"/>
              </a:rPr>
              <a:t>Lack of centralized security monitoring</a:t>
            </a:r>
            <a:endParaRPr lang="en-PH"/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400">
                <a:latin typeface="Cambria"/>
                <a:ea typeface="Cambria"/>
              </a:rPr>
              <a:t>Policies require alignment with global frameworks</a:t>
            </a:r>
            <a:endParaRPr lang="en-PH"/>
          </a:p>
          <a:p>
            <a:pPr marL="571500" indent="-571500">
              <a:lnSpc>
                <a:spcPct val="150000"/>
              </a:lnSpc>
              <a:buChar char="•"/>
            </a:pPr>
            <a:endParaRPr lang="en-PH" sz="4400" dirty="0">
              <a:latin typeface="Cambria"/>
              <a:ea typeface="Cambria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BB4518CA-AD63-FD24-6EAF-D988CBEC241D}"/>
              </a:ext>
            </a:extLst>
          </p:cNvPr>
          <p:cNvSpPr/>
          <p:nvPr/>
        </p:nvSpPr>
        <p:spPr>
          <a:xfrm>
            <a:off x="1159209" y="9182845"/>
            <a:ext cx="5681363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4">
            <a:extLst>
              <a:ext uri="{FF2B5EF4-FFF2-40B4-BE49-F238E27FC236}">
                <a16:creationId xmlns:a16="http://schemas.microsoft.com/office/drawing/2014/main" id="{1EA834B9-F9AB-09C3-6A86-FE5696AFE66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7046" y="9018651"/>
            <a:ext cx="852163" cy="935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4281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1ACF56C-7BC5-E515-29F9-D0B23A288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>
            <a:extLst>
              <a:ext uri="{FF2B5EF4-FFF2-40B4-BE49-F238E27FC236}">
                <a16:creationId xmlns:a16="http://schemas.microsoft.com/office/drawing/2014/main" id="{2BDD9059-692E-1961-5B78-0FFEEE8EC483}"/>
              </a:ext>
            </a:extLst>
          </p:cNvPr>
          <p:cNvGrpSpPr/>
          <p:nvPr/>
        </p:nvGrpSpPr>
        <p:grpSpPr>
          <a:xfrm>
            <a:off x="0" y="0"/>
            <a:ext cx="18288000" cy="1257656"/>
            <a:chOff x="0" y="0"/>
            <a:chExt cx="2414767" cy="166062"/>
          </a:xfrm>
        </p:grpSpPr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DF0605EF-52AD-3AF8-EB8A-6F64CB93EA6E}"/>
                </a:ext>
              </a:extLst>
            </p:cNvPr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3EB55A52-64F1-F36E-3F3B-C6353DEE01B0}"/>
                </a:ext>
              </a:extLst>
            </p:cNvPr>
            <p:cNvSpPr txBox="1"/>
            <p:nvPr/>
          </p:nvSpPr>
          <p:spPr>
            <a:xfrm>
              <a:off x="0" y="38100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5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C0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>
            <a:extLst>
              <a:ext uri="{FF2B5EF4-FFF2-40B4-BE49-F238E27FC236}">
                <a16:creationId xmlns:a16="http://schemas.microsoft.com/office/drawing/2014/main" id="{5F81BFC4-527B-D8B6-A4ED-14ED846D93FB}"/>
              </a:ext>
            </a:extLst>
          </p:cNvPr>
          <p:cNvGrpSpPr/>
          <p:nvPr/>
        </p:nvGrpSpPr>
        <p:grpSpPr>
          <a:xfrm>
            <a:off x="15737979" y="5314950"/>
            <a:ext cx="6329829" cy="6841218"/>
            <a:chOff x="-1" y="0"/>
            <a:chExt cx="8439772" cy="9121624"/>
          </a:xfrm>
        </p:grpSpPr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40C83A2D-421C-2958-9EAA-BEFD7AA3A22F}"/>
                </a:ext>
              </a:extLst>
            </p:cNvPr>
            <p:cNvSpPr/>
            <p:nvPr/>
          </p:nvSpPr>
          <p:spPr>
            <a:xfrm rot="-3667827">
              <a:off x="1264114" y="2411576"/>
              <a:ext cx="6945529" cy="4627459"/>
            </a:xfrm>
            <a:custGeom>
              <a:avLst/>
              <a:gdLst/>
              <a:ahLst/>
              <a:cxnLst/>
              <a:rect l="l" t="t" r="r" b="b"/>
              <a:pathLst>
                <a:path w="6945529" h="4627459" extrusionOk="0">
                  <a:moveTo>
                    <a:pt x="0" y="0"/>
                  </a:moveTo>
                  <a:lnTo>
                    <a:pt x="6945529" y="0"/>
                  </a:lnTo>
                  <a:lnTo>
                    <a:pt x="6945529" y="4627459"/>
                  </a:lnTo>
                  <a:lnTo>
                    <a:pt x="0" y="4627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F84FE2FA-1A28-629E-7201-46775D1EFB93}"/>
                </a:ext>
              </a:extLst>
            </p:cNvPr>
            <p:cNvSpPr/>
            <p:nvPr/>
          </p:nvSpPr>
          <p:spPr>
            <a:xfrm rot="-9078345">
              <a:off x="1691527" y="-145375"/>
              <a:ext cx="1142777" cy="6835497"/>
            </a:xfrm>
            <a:custGeom>
              <a:avLst/>
              <a:gdLst/>
              <a:ahLst/>
              <a:cxnLst/>
              <a:rect l="l" t="t" r="r" b="b"/>
              <a:pathLst>
                <a:path w="1142777" h="6835497" extrusionOk="0">
                  <a:moveTo>
                    <a:pt x="0" y="0"/>
                  </a:moveTo>
                  <a:lnTo>
                    <a:pt x="1142777" y="0"/>
                  </a:lnTo>
                  <a:lnTo>
                    <a:pt x="1142777" y="6835497"/>
                  </a:lnTo>
                  <a:lnTo>
                    <a:pt x="0" y="6835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9DC86C05-B05F-3F6C-AD42-8A882B305368}"/>
                </a:ext>
              </a:extLst>
            </p:cNvPr>
            <p:cNvSpPr/>
            <p:nvPr/>
          </p:nvSpPr>
          <p:spPr>
            <a:xfrm rot="-9082535">
              <a:off x="2104548" y="346780"/>
              <a:ext cx="1097368" cy="9066017"/>
            </a:xfrm>
            <a:custGeom>
              <a:avLst/>
              <a:gdLst/>
              <a:ahLst/>
              <a:cxnLst/>
              <a:rect l="l" t="t" r="r" b="b"/>
              <a:pathLst>
                <a:path w="1097368" h="9066017" extrusionOk="0">
                  <a:moveTo>
                    <a:pt x="0" y="0"/>
                  </a:moveTo>
                  <a:lnTo>
                    <a:pt x="1097369" y="0"/>
                  </a:lnTo>
                  <a:lnTo>
                    <a:pt x="1097369" y="9066017"/>
                  </a:lnTo>
                  <a:lnTo>
                    <a:pt x="0" y="9066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AABD640B-9349-3232-0D97-B59FB78558B7}"/>
              </a:ext>
            </a:extLst>
          </p:cNvPr>
          <p:cNvSpPr txBox="1"/>
          <p:nvPr/>
        </p:nvSpPr>
        <p:spPr>
          <a:xfrm>
            <a:off x="180968" y="127572"/>
            <a:ext cx="17926065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PH" sz="6500" b="1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Recommendations</a:t>
            </a:r>
            <a:endParaRPr lang="en-US" dirty="0"/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5617C881-6555-21B9-1AE0-8F1A3EDE04DB}"/>
              </a:ext>
            </a:extLst>
          </p:cNvPr>
          <p:cNvSpPr txBox="1"/>
          <p:nvPr/>
        </p:nvSpPr>
        <p:spPr>
          <a:xfrm>
            <a:off x="1692085" y="2108752"/>
            <a:ext cx="14888428" cy="609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Char char="•"/>
            </a:pPr>
            <a:r>
              <a:rPr lang="en-PH" sz="4400" dirty="0">
                <a:latin typeface="Cambria"/>
                <a:ea typeface="Cambria"/>
              </a:rPr>
              <a:t>Implement full ISMS (ISO/IEC 27001 certification)</a:t>
            </a:r>
            <a:endParaRPr lang="en-US" sz="4400" dirty="0">
              <a:ea typeface="Cambria"/>
            </a:endParaRPr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400">
                <a:latin typeface="Cambria"/>
                <a:ea typeface="Cambria"/>
              </a:rPr>
              <a:t>Deploy SIEM for real-time threat detection</a:t>
            </a:r>
            <a:endParaRPr lang="en-PH"/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400">
                <a:latin typeface="Cambria"/>
                <a:ea typeface="Cambria"/>
              </a:rPr>
              <a:t>Enforce MFA across all critical systems</a:t>
            </a:r>
            <a:endParaRPr lang="en-PH"/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400" dirty="0">
                <a:latin typeface="Cambria"/>
                <a:ea typeface="Cambria"/>
              </a:rPr>
              <a:t>Regular compliance audits (NPC, ISO)</a:t>
            </a:r>
            <a:endParaRPr lang="en-US" dirty="0"/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PH" sz="4400" dirty="0">
                <a:latin typeface="Cambria"/>
                <a:ea typeface="Cambria"/>
              </a:rPr>
              <a:t>Strengthen OT network segmentation</a:t>
            </a:r>
            <a:endParaRPr lang="en-PH"/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PH" sz="4400" dirty="0">
                <a:latin typeface="Cambria"/>
                <a:ea typeface="Cambria"/>
              </a:rPr>
              <a:t>Continuous employee security awareness training</a:t>
            </a:r>
            <a:endParaRPr lang="en-PH" dirty="0"/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1E7D8C4A-1B34-4618-D835-1890C3D99BD9}"/>
              </a:ext>
            </a:extLst>
          </p:cNvPr>
          <p:cNvSpPr/>
          <p:nvPr/>
        </p:nvSpPr>
        <p:spPr>
          <a:xfrm>
            <a:off x="1159209" y="9182845"/>
            <a:ext cx="5681363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4">
            <a:extLst>
              <a:ext uri="{FF2B5EF4-FFF2-40B4-BE49-F238E27FC236}">
                <a16:creationId xmlns:a16="http://schemas.microsoft.com/office/drawing/2014/main" id="{CB99F9A8-6669-6EF8-F343-45FBC2B4B70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7046" y="9018651"/>
            <a:ext cx="852163" cy="935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73100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E13E6CF-0A1A-A0A2-68DA-DA7B8F2AC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>
            <a:extLst>
              <a:ext uri="{FF2B5EF4-FFF2-40B4-BE49-F238E27FC236}">
                <a16:creationId xmlns:a16="http://schemas.microsoft.com/office/drawing/2014/main" id="{FCD7FEC2-76A0-8C48-A852-31670BDB44FE}"/>
              </a:ext>
            </a:extLst>
          </p:cNvPr>
          <p:cNvGrpSpPr/>
          <p:nvPr/>
        </p:nvGrpSpPr>
        <p:grpSpPr>
          <a:xfrm>
            <a:off x="0" y="0"/>
            <a:ext cx="18288000" cy="1257656"/>
            <a:chOff x="0" y="0"/>
            <a:chExt cx="2414767" cy="166062"/>
          </a:xfrm>
        </p:grpSpPr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55B884F7-7A9F-AB72-8802-8B48B7D026ED}"/>
                </a:ext>
              </a:extLst>
            </p:cNvPr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9A3246F9-3205-D14B-2E22-E26BBE6C88BC}"/>
                </a:ext>
              </a:extLst>
            </p:cNvPr>
            <p:cNvSpPr txBox="1"/>
            <p:nvPr/>
          </p:nvSpPr>
          <p:spPr>
            <a:xfrm>
              <a:off x="0" y="38100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5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C0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>
            <a:extLst>
              <a:ext uri="{FF2B5EF4-FFF2-40B4-BE49-F238E27FC236}">
                <a16:creationId xmlns:a16="http://schemas.microsoft.com/office/drawing/2014/main" id="{015C2BC7-AA6E-E647-156F-88DFA49665A0}"/>
              </a:ext>
            </a:extLst>
          </p:cNvPr>
          <p:cNvGrpSpPr/>
          <p:nvPr/>
        </p:nvGrpSpPr>
        <p:grpSpPr>
          <a:xfrm>
            <a:off x="15737979" y="5314950"/>
            <a:ext cx="6329829" cy="6841218"/>
            <a:chOff x="-1" y="0"/>
            <a:chExt cx="8439772" cy="9121624"/>
          </a:xfrm>
        </p:grpSpPr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E240110D-8F77-EA97-0EF3-841567FD8E3E}"/>
                </a:ext>
              </a:extLst>
            </p:cNvPr>
            <p:cNvSpPr/>
            <p:nvPr/>
          </p:nvSpPr>
          <p:spPr>
            <a:xfrm rot="-3667827">
              <a:off x="1264114" y="2411576"/>
              <a:ext cx="6945529" cy="4627459"/>
            </a:xfrm>
            <a:custGeom>
              <a:avLst/>
              <a:gdLst/>
              <a:ahLst/>
              <a:cxnLst/>
              <a:rect l="l" t="t" r="r" b="b"/>
              <a:pathLst>
                <a:path w="6945529" h="4627459" extrusionOk="0">
                  <a:moveTo>
                    <a:pt x="0" y="0"/>
                  </a:moveTo>
                  <a:lnTo>
                    <a:pt x="6945529" y="0"/>
                  </a:lnTo>
                  <a:lnTo>
                    <a:pt x="6945529" y="4627459"/>
                  </a:lnTo>
                  <a:lnTo>
                    <a:pt x="0" y="4627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04FFC639-4BCA-858D-520D-E8FDC2737671}"/>
                </a:ext>
              </a:extLst>
            </p:cNvPr>
            <p:cNvSpPr/>
            <p:nvPr/>
          </p:nvSpPr>
          <p:spPr>
            <a:xfrm rot="-9078345">
              <a:off x="1691527" y="-145375"/>
              <a:ext cx="1142777" cy="6835497"/>
            </a:xfrm>
            <a:custGeom>
              <a:avLst/>
              <a:gdLst/>
              <a:ahLst/>
              <a:cxnLst/>
              <a:rect l="l" t="t" r="r" b="b"/>
              <a:pathLst>
                <a:path w="1142777" h="6835497" extrusionOk="0">
                  <a:moveTo>
                    <a:pt x="0" y="0"/>
                  </a:moveTo>
                  <a:lnTo>
                    <a:pt x="1142777" y="0"/>
                  </a:lnTo>
                  <a:lnTo>
                    <a:pt x="1142777" y="6835497"/>
                  </a:lnTo>
                  <a:lnTo>
                    <a:pt x="0" y="6835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A7902D65-54E1-2F2F-2416-744B8E39638B}"/>
                </a:ext>
              </a:extLst>
            </p:cNvPr>
            <p:cNvSpPr/>
            <p:nvPr/>
          </p:nvSpPr>
          <p:spPr>
            <a:xfrm rot="-9082535">
              <a:off x="2104548" y="346780"/>
              <a:ext cx="1097368" cy="9066017"/>
            </a:xfrm>
            <a:custGeom>
              <a:avLst/>
              <a:gdLst/>
              <a:ahLst/>
              <a:cxnLst/>
              <a:rect l="l" t="t" r="r" b="b"/>
              <a:pathLst>
                <a:path w="1097368" h="9066017" extrusionOk="0">
                  <a:moveTo>
                    <a:pt x="0" y="0"/>
                  </a:moveTo>
                  <a:lnTo>
                    <a:pt x="1097369" y="0"/>
                  </a:lnTo>
                  <a:lnTo>
                    <a:pt x="1097369" y="9066017"/>
                  </a:lnTo>
                  <a:lnTo>
                    <a:pt x="0" y="9066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8B080382-CCB2-70B8-5E9C-FF56BBE86F76}"/>
              </a:ext>
            </a:extLst>
          </p:cNvPr>
          <p:cNvSpPr txBox="1"/>
          <p:nvPr/>
        </p:nvSpPr>
        <p:spPr>
          <a:xfrm>
            <a:off x="180968" y="127572"/>
            <a:ext cx="17926065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PH" sz="6500" b="1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System Demo Summary</a:t>
            </a:r>
            <a:endParaRPr lang="en-US" dirty="0"/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69A2DFC6-596B-10DE-4BD1-2FED901BF0CE}"/>
              </a:ext>
            </a:extLst>
          </p:cNvPr>
          <p:cNvSpPr txBox="1"/>
          <p:nvPr/>
        </p:nvSpPr>
        <p:spPr>
          <a:xfrm>
            <a:off x="2878217" y="2367544"/>
            <a:ext cx="12516164" cy="664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Char char="•"/>
            </a:pPr>
            <a:r>
              <a:rPr lang="en-PH" sz="4800" dirty="0">
                <a:latin typeface="Cambria"/>
                <a:ea typeface="Cambria"/>
              </a:rPr>
              <a:t>Real encryption (AES-GCM 256)</a:t>
            </a:r>
            <a:endParaRPr lang="en-US" sz="4800" dirty="0">
              <a:latin typeface="Cambria"/>
              <a:ea typeface="Cambria"/>
            </a:endParaRPr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800">
                <a:latin typeface="Cambria"/>
                <a:ea typeface="Cambria"/>
              </a:rPr>
              <a:t>Authentication &amp; RBAC</a:t>
            </a:r>
            <a:endParaRPr lang="en-PH" sz="4800"/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800">
                <a:latin typeface="Cambria"/>
                <a:ea typeface="Cambria"/>
              </a:rPr>
              <a:t>Assignment-based access control</a:t>
            </a:r>
            <a:endParaRPr lang="en-PH" sz="4800"/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800">
                <a:latin typeface="Cambria"/>
                <a:ea typeface="Cambria"/>
              </a:rPr>
              <a:t>Comprehensive audit &amp; incident logs</a:t>
            </a:r>
            <a:endParaRPr lang="en-US" sz="4800"/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PH" sz="4800" dirty="0">
                <a:latin typeface="Cambria"/>
                <a:ea typeface="Cambria"/>
              </a:rPr>
              <a:t>Simulated OT-to-IT secure data handling</a:t>
            </a:r>
            <a:endParaRPr lang="en-PH" sz="4800" dirty="0"/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endParaRPr lang="en-PH" sz="4800" dirty="0">
              <a:latin typeface="Cambria"/>
              <a:ea typeface="Cambria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972A58A7-FC54-F4FA-B4C2-975B6407FB0F}"/>
              </a:ext>
            </a:extLst>
          </p:cNvPr>
          <p:cNvSpPr/>
          <p:nvPr/>
        </p:nvSpPr>
        <p:spPr>
          <a:xfrm>
            <a:off x="1159209" y="9182845"/>
            <a:ext cx="5681363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4">
            <a:extLst>
              <a:ext uri="{FF2B5EF4-FFF2-40B4-BE49-F238E27FC236}">
                <a16:creationId xmlns:a16="http://schemas.microsoft.com/office/drawing/2014/main" id="{0EE194DD-B6C8-DC80-8F6D-BD2F07B8B94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7046" y="9018651"/>
            <a:ext cx="852163" cy="935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6298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E847881-1648-14D1-3C6F-F70150633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>
            <a:extLst>
              <a:ext uri="{FF2B5EF4-FFF2-40B4-BE49-F238E27FC236}">
                <a16:creationId xmlns:a16="http://schemas.microsoft.com/office/drawing/2014/main" id="{5215B968-FAFF-8EE8-38F6-1457CBC14DC9}"/>
              </a:ext>
            </a:extLst>
          </p:cNvPr>
          <p:cNvGrpSpPr/>
          <p:nvPr/>
        </p:nvGrpSpPr>
        <p:grpSpPr>
          <a:xfrm>
            <a:off x="0" y="0"/>
            <a:ext cx="18288000" cy="1257656"/>
            <a:chOff x="0" y="0"/>
            <a:chExt cx="2414767" cy="166062"/>
          </a:xfrm>
        </p:grpSpPr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F8071136-2C1A-6034-9AB5-F85BE8C5732B}"/>
                </a:ext>
              </a:extLst>
            </p:cNvPr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4D0A44A2-2533-B2C5-FA66-7D86E71A68AA}"/>
                </a:ext>
              </a:extLst>
            </p:cNvPr>
            <p:cNvSpPr txBox="1"/>
            <p:nvPr/>
          </p:nvSpPr>
          <p:spPr>
            <a:xfrm>
              <a:off x="0" y="38100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5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C0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>
            <a:extLst>
              <a:ext uri="{FF2B5EF4-FFF2-40B4-BE49-F238E27FC236}">
                <a16:creationId xmlns:a16="http://schemas.microsoft.com/office/drawing/2014/main" id="{FD768718-F0BB-A9F5-CACD-A8AECB7273E8}"/>
              </a:ext>
            </a:extLst>
          </p:cNvPr>
          <p:cNvGrpSpPr/>
          <p:nvPr/>
        </p:nvGrpSpPr>
        <p:grpSpPr>
          <a:xfrm>
            <a:off x="15737979" y="5314950"/>
            <a:ext cx="6329829" cy="6841218"/>
            <a:chOff x="-1" y="0"/>
            <a:chExt cx="8439772" cy="9121624"/>
          </a:xfrm>
        </p:grpSpPr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1217DBEC-7D1C-6131-8874-50BA76C9FE31}"/>
                </a:ext>
              </a:extLst>
            </p:cNvPr>
            <p:cNvSpPr/>
            <p:nvPr/>
          </p:nvSpPr>
          <p:spPr>
            <a:xfrm rot="-3667827">
              <a:off x="1264114" y="2411576"/>
              <a:ext cx="6945529" cy="4627459"/>
            </a:xfrm>
            <a:custGeom>
              <a:avLst/>
              <a:gdLst/>
              <a:ahLst/>
              <a:cxnLst/>
              <a:rect l="l" t="t" r="r" b="b"/>
              <a:pathLst>
                <a:path w="6945529" h="4627459" extrusionOk="0">
                  <a:moveTo>
                    <a:pt x="0" y="0"/>
                  </a:moveTo>
                  <a:lnTo>
                    <a:pt x="6945529" y="0"/>
                  </a:lnTo>
                  <a:lnTo>
                    <a:pt x="6945529" y="4627459"/>
                  </a:lnTo>
                  <a:lnTo>
                    <a:pt x="0" y="4627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25E550DE-023D-2CC4-BF2F-EB0FCE88867A}"/>
                </a:ext>
              </a:extLst>
            </p:cNvPr>
            <p:cNvSpPr/>
            <p:nvPr/>
          </p:nvSpPr>
          <p:spPr>
            <a:xfrm rot="-9078345">
              <a:off x="1691527" y="-145375"/>
              <a:ext cx="1142777" cy="6835497"/>
            </a:xfrm>
            <a:custGeom>
              <a:avLst/>
              <a:gdLst/>
              <a:ahLst/>
              <a:cxnLst/>
              <a:rect l="l" t="t" r="r" b="b"/>
              <a:pathLst>
                <a:path w="1142777" h="6835497" extrusionOk="0">
                  <a:moveTo>
                    <a:pt x="0" y="0"/>
                  </a:moveTo>
                  <a:lnTo>
                    <a:pt x="1142777" y="0"/>
                  </a:lnTo>
                  <a:lnTo>
                    <a:pt x="1142777" y="6835497"/>
                  </a:lnTo>
                  <a:lnTo>
                    <a:pt x="0" y="6835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CCECE5CA-16B6-22DB-537B-94AB0AC07E2D}"/>
                </a:ext>
              </a:extLst>
            </p:cNvPr>
            <p:cNvSpPr/>
            <p:nvPr/>
          </p:nvSpPr>
          <p:spPr>
            <a:xfrm rot="-9082535">
              <a:off x="2104548" y="346780"/>
              <a:ext cx="1097368" cy="9066017"/>
            </a:xfrm>
            <a:custGeom>
              <a:avLst/>
              <a:gdLst/>
              <a:ahLst/>
              <a:cxnLst/>
              <a:rect l="l" t="t" r="r" b="b"/>
              <a:pathLst>
                <a:path w="1097368" h="9066017" extrusionOk="0">
                  <a:moveTo>
                    <a:pt x="0" y="0"/>
                  </a:moveTo>
                  <a:lnTo>
                    <a:pt x="1097369" y="0"/>
                  </a:lnTo>
                  <a:lnTo>
                    <a:pt x="1097369" y="9066017"/>
                  </a:lnTo>
                  <a:lnTo>
                    <a:pt x="0" y="9066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383362F7-E23E-DDB7-59B8-493564054494}"/>
              </a:ext>
            </a:extLst>
          </p:cNvPr>
          <p:cNvSpPr txBox="1"/>
          <p:nvPr/>
        </p:nvSpPr>
        <p:spPr>
          <a:xfrm>
            <a:off x="180968" y="127572"/>
            <a:ext cx="17926065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PH" sz="6500" b="1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Conclusion</a:t>
            </a:r>
            <a:endParaRPr lang="en-US" dirty="0"/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0EF1A110-167A-4FDE-39C7-490EEB27DEE0}"/>
              </a:ext>
            </a:extLst>
          </p:cNvPr>
          <p:cNvSpPr txBox="1"/>
          <p:nvPr/>
        </p:nvSpPr>
        <p:spPr>
          <a:xfrm>
            <a:off x="1605821" y="1849959"/>
            <a:ext cx="15082522" cy="7755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Char char="•"/>
            </a:pPr>
            <a:r>
              <a:rPr lang="en-PH" sz="4800" dirty="0">
                <a:latin typeface="Cambria"/>
                <a:ea typeface="Cambria"/>
              </a:rPr>
              <a:t>TMC’s cybersecurity posture significantly strengthened</a:t>
            </a:r>
            <a:endParaRPr lang="en-US" sz="4800" dirty="0">
              <a:latin typeface="Cambria"/>
              <a:ea typeface="Cambria"/>
            </a:endParaRPr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800" dirty="0">
                <a:latin typeface="Cambria"/>
                <a:ea typeface="Cambria"/>
              </a:rPr>
              <a:t>Risks identified and addressed using global standards</a:t>
            </a:r>
            <a:endParaRPr lang="en-US" dirty="0"/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PH" sz="4800" dirty="0">
                <a:latin typeface="Cambria"/>
                <a:ea typeface="Cambria"/>
              </a:rPr>
              <a:t>Secure data processing demonstrated with working system</a:t>
            </a:r>
            <a:endParaRPr lang="en-PH" dirty="0"/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en-PH" sz="4800" dirty="0">
                <a:latin typeface="Cambria"/>
                <a:ea typeface="Cambria"/>
              </a:rPr>
              <a:t>Project aligns with real-world industrial cybersecurity requirements</a:t>
            </a:r>
            <a:endParaRPr lang="en-PH" dirty="0"/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endParaRPr lang="en-PH" sz="4800" dirty="0">
              <a:latin typeface="Cambria"/>
              <a:ea typeface="Cambria"/>
            </a:endParaRPr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45B7D312-7DAF-2840-E8B0-E623C747B91D}"/>
              </a:ext>
            </a:extLst>
          </p:cNvPr>
          <p:cNvSpPr/>
          <p:nvPr/>
        </p:nvSpPr>
        <p:spPr>
          <a:xfrm>
            <a:off x="1159209" y="9182845"/>
            <a:ext cx="5681363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4">
            <a:extLst>
              <a:ext uri="{FF2B5EF4-FFF2-40B4-BE49-F238E27FC236}">
                <a16:creationId xmlns:a16="http://schemas.microsoft.com/office/drawing/2014/main" id="{46C45EC0-CD8C-4F2E-29CE-92A77446575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7046" y="9018651"/>
            <a:ext cx="852163" cy="935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2833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2B32E2D-A551-7A86-FB5F-E7E5EE514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4">
            <a:extLst>
              <a:ext uri="{FF2B5EF4-FFF2-40B4-BE49-F238E27FC236}">
                <a16:creationId xmlns:a16="http://schemas.microsoft.com/office/drawing/2014/main" id="{C03EF728-19C7-0D54-4051-6BB25294C2EC}"/>
              </a:ext>
            </a:extLst>
          </p:cNvPr>
          <p:cNvGrpSpPr/>
          <p:nvPr/>
        </p:nvGrpSpPr>
        <p:grpSpPr>
          <a:xfrm>
            <a:off x="0" y="0"/>
            <a:ext cx="18288000" cy="1257656"/>
            <a:chOff x="0" y="0"/>
            <a:chExt cx="2414767" cy="166062"/>
          </a:xfrm>
        </p:grpSpPr>
        <p:sp>
          <p:nvSpPr>
            <p:cNvPr id="105" name="Google Shape;105;p14">
              <a:extLst>
                <a:ext uri="{FF2B5EF4-FFF2-40B4-BE49-F238E27FC236}">
                  <a16:creationId xmlns:a16="http://schemas.microsoft.com/office/drawing/2014/main" id="{261DAF57-2350-8527-02FE-34E1FFE03934}"/>
                </a:ext>
              </a:extLst>
            </p:cNvPr>
            <p:cNvSpPr/>
            <p:nvPr/>
          </p:nvSpPr>
          <p:spPr>
            <a:xfrm>
              <a:off x="0" y="0"/>
              <a:ext cx="2414767" cy="166062"/>
            </a:xfrm>
            <a:custGeom>
              <a:avLst/>
              <a:gdLst/>
              <a:ahLst/>
              <a:cxnLst/>
              <a:rect l="l" t="t" r="r" b="b"/>
              <a:pathLst>
                <a:path w="2414767" h="166062" extrusionOk="0">
                  <a:moveTo>
                    <a:pt x="0" y="0"/>
                  </a:moveTo>
                  <a:lnTo>
                    <a:pt x="2414767" y="0"/>
                  </a:lnTo>
                  <a:lnTo>
                    <a:pt x="2414767" y="166062"/>
                  </a:lnTo>
                  <a:lnTo>
                    <a:pt x="0" y="166062"/>
                  </a:lnTo>
                  <a:close/>
                </a:path>
              </a:pathLst>
            </a:custGeom>
            <a:solidFill>
              <a:srgbClr val="1C0472"/>
            </a:solid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6" name="Google Shape;106;p14">
              <a:extLst>
                <a:ext uri="{FF2B5EF4-FFF2-40B4-BE49-F238E27FC236}">
                  <a16:creationId xmlns:a16="http://schemas.microsoft.com/office/drawing/2014/main" id="{57994374-2D78-23A4-8992-DF1099D13F00}"/>
                </a:ext>
              </a:extLst>
            </p:cNvPr>
            <p:cNvSpPr txBox="1"/>
            <p:nvPr/>
          </p:nvSpPr>
          <p:spPr>
            <a:xfrm>
              <a:off x="0" y="38100"/>
              <a:ext cx="2414767" cy="127962"/>
            </a:xfrm>
            <a:prstGeom prst="rect">
              <a:avLst/>
            </a:prstGeom>
            <a:solidFill>
              <a:srgbClr val="1C047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52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1C047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" name="Google Shape;107;p14">
            <a:extLst>
              <a:ext uri="{FF2B5EF4-FFF2-40B4-BE49-F238E27FC236}">
                <a16:creationId xmlns:a16="http://schemas.microsoft.com/office/drawing/2014/main" id="{4D0F9F6A-E113-14A0-8093-A17F3846F22E}"/>
              </a:ext>
            </a:extLst>
          </p:cNvPr>
          <p:cNvGrpSpPr/>
          <p:nvPr/>
        </p:nvGrpSpPr>
        <p:grpSpPr>
          <a:xfrm>
            <a:off x="15737979" y="5314950"/>
            <a:ext cx="6329829" cy="6841218"/>
            <a:chOff x="-1" y="0"/>
            <a:chExt cx="8439772" cy="9121624"/>
          </a:xfrm>
        </p:grpSpPr>
        <p:sp>
          <p:nvSpPr>
            <p:cNvPr id="108" name="Google Shape;108;p14">
              <a:extLst>
                <a:ext uri="{FF2B5EF4-FFF2-40B4-BE49-F238E27FC236}">
                  <a16:creationId xmlns:a16="http://schemas.microsoft.com/office/drawing/2014/main" id="{26BF7F8A-3F3D-F403-565C-1CDB974AC999}"/>
                </a:ext>
              </a:extLst>
            </p:cNvPr>
            <p:cNvSpPr/>
            <p:nvPr/>
          </p:nvSpPr>
          <p:spPr>
            <a:xfrm rot="-3667827">
              <a:off x="1264114" y="2411576"/>
              <a:ext cx="6945529" cy="4627459"/>
            </a:xfrm>
            <a:custGeom>
              <a:avLst/>
              <a:gdLst/>
              <a:ahLst/>
              <a:cxnLst/>
              <a:rect l="l" t="t" r="r" b="b"/>
              <a:pathLst>
                <a:path w="6945529" h="4627459" extrusionOk="0">
                  <a:moveTo>
                    <a:pt x="0" y="0"/>
                  </a:moveTo>
                  <a:lnTo>
                    <a:pt x="6945529" y="0"/>
                  </a:lnTo>
                  <a:lnTo>
                    <a:pt x="6945529" y="4627459"/>
                  </a:lnTo>
                  <a:lnTo>
                    <a:pt x="0" y="462745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09" name="Google Shape;109;p14">
              <a:extLst>
                <a:ext uri="{FF2B5EF4-FFF2-40B4-BE49-F238E27FC236}">
                  <a16:creationId xmlns:a16="http://schemas.microsoft.com/office/drawing/2014/main" id="{CF7F98A3-7344-B97C-15FE-D5768143C72A}"/>
                </a:ext>
              </a:extLst>
            </p:cNvPr>
            <p:cNvSpPr/>
            <p:nvPr/>
          </p:nvSpPr>
          <p:spPr>
            <a:xfrm rot="-9078345">
              <a:off x="1691527" y="-145375"/>
              <a:ext cx="1142777" cy="6835497"/>
            </a:xfrm>
            <a:custGeom>
              <a:avLst/>
              <a:gdLst/>
              <a:ahLst/>
              <a:cxnLst/>
              <a:rect l="l" t="t" r="r" b="b"/>
              <a:pathLst>
                <a:path w="1142777" h="6835497" extrusionOk="0">
                  <a:moveTo>
                    <a:pt x="0" y="0"/>
                  </a:moveTo>
                  <a:lnTo>
                    <a:pt x="1142777" y="0"/>
                  </a:lnTo>
                  <a:lnTo>
                    <a:pt x="1142777" y="6835497"/>
                  </a:lnTo>
                  <a:lnTo>
                    <a:pt x="0" y="68354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 amt="43000"/>
              </a:blip>
              <a:stretch>
                <a:fillRect l="-30920" r="-1108389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110" name="Google Shape;110;p14">
              <a:extLst>
                <a:ext uri="{FF2B5EF4-FFF2-40B4-BE49-F238E27FC236}">
                  <a16:creationId xmlns:a16="http://schemas.microsoft.com/office/drawing/2014/main" id="{AC4B8069-AC1B-3E17-E5C7-3A3FC542E893}"/>
                </a:ext>
              </a:extLst>
            </p:cNvPr>
            <p:cNvSpPr/>
            <p:nvPr/>
          </p:nvSpPr>
          <p:spPr>
            <a:xfrm rot="-9082535">
              <a:off x="2104548" y="346780"/>
              <a:ext cx="1097368" cy="9066017"/>
            </a:xfrm>
            <a:custGeom>
              <a:avLst/>
              <a:gdLst/>
              <a:ahLst/>
              <a:cxnLst/>
              <a:rect l="l" t="t" r="r" b="b"/>
              <a:pathLst>
                <a:path w="1097368" h="9066017" extrusionOk="0">
                  <a:moveTo>
                    <a:pt x="0" y="0"/>
                  </a:moveTo>
                  <a:lnTo>
                    <a:pt x="1097369" y="0"/>
                  </a:lnTo>
                  <a:lnTo>
                    <a:pt x="1097369" y="9066017"/>
                  </a:lnTo>
                  <a:lnTo>
                    <a:pt x="0" y="90660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l="-1596329" r="-19231"/>
              </a:stretch>
            </a:blipFill>
            <a:ln>
              <a:noFill/>
            </a:ln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111" name="Google Shape;111;p14">
            <a:extLst>
              <a:ext uri="{FF2B5EF4-FFF2-40B4-BE49-F238E27FC236}">
                <a16:creationId xmlns:a16="http://schemas.microsoft.com/office/drawing/2014/main" id="{8134ADEF-C4CA-F75C-1B31-3C9BD0D3FA26}"/>
              </a:ext>
            </a:extLst>
          </p:cNvPr>
          <p:cNvSpPr txBox="1"/>
          <p:nvPr/>
        </p:nvSpPr>
        <p:spPr>
          <a:xfrm>
            <a:off x="180968" y="127572"/>
            <a:ext cx="17926065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PH" sz="6500" b="1" dirty="0">
                <a:solidFill>
                  <a:srgbClr val="FFFFFF"/>
                </a:solidFill>
                <a:latin typeface="Cambria"/>
                <a:ea typeface="Cambria"/>
                <a:sym typeface="Cambria"/>
              </a:rPr>
              <a:t>Thank You / Q&amp;A</a:t>
            </a:r>
            <a:endParaRPr lang="en-US" dirty="0"/>
          </a:p>
        </p:txBody>
      </p:sp>
      <p:sp>
        <p:nvSpPr>
          <p:cNvPr id="112" name="Google Shape;112;p14">
            <a:extLst>
              <a:ext uri="{FF2B5EF4-FFF2-40B4-BE49-F238E27FC236}">
                <a16:creationId xmlns:a16="http://schemas.microsoft.com/office/drawing/2014/main" id="{1600AFBF-82C4-0C79-868A-CDA639AD1B84}"/>
              </a:ext>
            </a:extLst>
          </p:cNvPr>
          <p:cNvSpPr txBox="1"/>
          <p:nvPr/>
        </p:nvSpPr>
        <p:spPr>
          <a:xfrm>
            <a:off x="1605821" y="3661506"/>
            <a:ext cx="15082522" cy="332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571500" indent="-571500">
              <a:lnSpc>
                <a:spcPct val="150000"/>
              </a:lnSpc>
              <a:buChar char="•"/>
            </a:pPr>
            <a:r>
              <a:rPr lang="en-PH" sz="4800">
                <a:latin typeface="Cambria"/>
                <a:ea typeface="Cambria"/>
              </a:rPr>
              <a:t>Open floor for questions</a:t>
            </a:r>
            <a:endParaRPr lang="en-US" sz="4800">
              <a:latin typeface="Cambria"/>
              <a:ea typeface="Cambria"/>
            </a:endParaRPr>
          </a:p>
          <a:p>
            <a:pPr marL="571500" indent="-571500">
              <a:lnSpc>
                <a:spcPct val="150000"/>
              </a:lnSpc>
              <a:buChar char="•"/>
            </a:pPr>
            <a:r>
              <a:rPr lang="en-PH" sz="4800" dirty="0">
                <a:latin typeface="Cambria"/>
                <a:ea typeface="Cambria"/>
              </a:rPr>
              <a:t>“Prepared to discuss technical, legal, and operational aspects.”</a:t>
            </a:r>
            <a:endParaRPr lang="en-PH" dirty="0"/>
          </a:p>
        </p:txBody>
      </p:sp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9E544C0C-3FE5-E847-9976-326162943790}"/>
              </a:ext>
            </a:extLst>
          </p:cNvPr>
          <p:cNvSpPr/>
          <p:nvPr/>
        </p:nvSpPr>
        <p:spPr>
          <a:xfrm>
            <a:off x="1159209" y="9182845"/>
            <a:ext cx="5681363" cy="815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UNIVERSITY OF SCIENCE AND TECHNOLOGY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PH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SOUTHERN PHILIPPINES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Alubijid | Balubal | Cagayan de Oro | Claveria | Jasaan | Oroquieta | Panaon | Villanueva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" name="Google Shape;114;p14">
            <a:extLst>
              <a:ext uri="{FF2B5EF4-FFF2-40B4-BE49-F238E27FC236}">
                <a16:creationId xmlns:a16="http://schemas.microsoft.com/office/drawing/2014/main" id="{09714F7D-8C55-45EB-E18C-E5E726FC7F0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7046" y="9018651"/>
            <a:ext cx="852163" cy="935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9211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</Words>
  <Application>Microsoft Office PowerPoint</Application>
  <PresentationFormat>Custom</PresentationFormat>
  <Paragraphs>11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Mitzi Clyde Turtor</cp:lastModifiedBy>
  <cp:revision>179</cp:revision>
  <dcterms:modified xsi:type="dcterms:W3CDTF">2025-12-07T16:24:01Z</dcterms:modified>
</cp:coreProperties>
</file>